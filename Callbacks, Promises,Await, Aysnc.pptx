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468" r:id="rId2"/>
    <p:sldId id="547" r:id="rId3"/>
    <p:sldId id="548" r:id="rId4"/>
    <p:sldId id="549" r:id="rId5"/>
    <p:sldId id="550" r:id="rId6"/>
    <p:sldId id="552" r:id="rId7"/>
    <p:sldId id="551" r:id="rId8"/>
    <p:sldId id="553" r:id="rId9"/>
    <p:sldId id="554" r:id="rId10"/>
    <p:sldId id="555" r:id="rId11"/>
    <p:sldId id="556" r:id="rId12"/>
    <p:sldId id="557" r:id="rId13"/>
    <p:sldId id="558" r:id="rId14"/>
    <p:sldId id="559" r:id="rId15"/>
    <p:sldId id="560" r:id="rId16"/>
    <p:sldId id="264"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DAVID BENAVIDES SANCHEZ" initials="DDBS" lastIdx="1" clrIdx="0">
    <p:extLst>
      <p:ext uri="{19B8F6BF-5375-455C-9EA6-DF929625EA0E}">
        <p15:presenceInfo xmlns:p15="http://schemas.microsoft.com/office/powerpoint/2012/main" userId="DANIEL DAVID BENAVIDES SANCH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5EA"/>
    <a:srgbClr val="38AA00"/>
    <a:srgbClr val="FFFFFF"/>
    <a:srgbClr val="766363"/>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A0472C-E42D-409B-8C27-DB2E802EEC81}" v="33" dt="2022-10-19T17:09:15.35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86369"/>
  </p:normalViewPr>
  <p:slideViewPr>
    <p:cSldViewPr snapToGrid="0">
      <p:cViewPr varScale="1">
        <p:scale>
          <a:sx n="63" d="100"/>
          <a:sy n="63" d="100"/>
        </p:scale>
        <p:origin x="924"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15/10/2023</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15/10/2023</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7</a:t>
            </a:fld>
            <a:endParaRPr lang="es-CO"/>
          </a:p>
        </p:txBody>
      </p:sp>
    </p:spTree>
    <p:extLst>
      <p:ext uri="{BB962C8B-B14F-4D97-AF65-F5344CB8AC3E}">
        <p14:creationId xmlns:p14="http://schemas.microsoft.com/office/powerpoint/2010/main" val="1453394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8</a:t>
            </a:fld>
            <a:endParaRPr lang="es-CO"/>
          </a:p>
        </p:txBody>
      </p:sp>
    </p:spTree>
    <p:extLst>
      <p:ext uri="{BB962C8B-B14F-4D97-AF65-F5344CB8AC3E}">
        <p14:creationId xmlns:p14="http://schemas.microsoft.com/office/powerpoint/2010/main" val="1461651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9</a:t>
            </a:fld>
            <a:endParaRPr lang="es-CO"/>
          </a:p>
        </p:txBody>
      </p:sp>
    </p:spTree>
    <p:extLst>
      <p:ext uri="{BB962C8B-B14F-4D97-AF65-F5344CB8AC3E}">
        <p14:creationId xmlns:p14="http://schemas.microsoft.com/office/powerpoint/2010/main" val="496319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10</a:t>
            </a:fld>
            <a:endParaRPr lang="es-CO"/>
          </a:p>
        </p:txBody>
      </p:sp>
    </p:spTree>
    <p:extLst>
      <p:ext uri="{BB962C8B-B14F-4D97-AF65-F5344CB8AC3E}">
        <p14:creationId xmlns:p14="http://schemas.microsoft.com/office/powerpoint/2010/main" val="2923700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11</a:t>
            </a:fld>
            <a:endParaRPr lang="es-CO"/>
          </a:p>
        </p:txBody>
      </p:sp>
    </p:spTree>
    <p:extLst>
      <p:ext uri="{BB962C8B-B14F-4D97-AF65-F5344CB8AC3E}">
        <p14:creationId xmlns:p14="http://schemas.microsoft.com/office/powerpoint/2010/main" val="4009008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12</a:t>
            </a:fld>
            <a:endParaRPr lang="es-CO"/>
          </a:p>
        </p:txBody>
      </p:sp>
    </p:spTree>
    <p:extLst>
      <p:ext uri="{BB962C8B-B14F-4D97-AF65-F5344CB8AC3E}">
        <p14:creationId xmlns:p14="http://schemas.microsoft.com/office/powerpoint/2010/main" val="3269050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13</a:t>
            </a:fld>
            <a:endParaRPr lang="es-CO"/>
          </a:p>
        </p:txBody>
      </p:sp>
    </p:spTree>
    <p:extLst>
      <p:ext uri="{BB962C8B-B14F-4D97-AF65-F5344CB8AC3E}">
        <p14:creationId xmlns:p14="http://schemas.microsoft.com/office/powerpoint/2010/main" val="447488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14</a:t>
            </a:fld>
            <a:endParaRPr lang="es-CO"/>
          </a:p>
        </p:txBody>
      </p:sp>
    </p:spTree>
    <p:extLst>
      <p:ext uri="{BB962C8B-B14F-4D97-AF65-F5344CB8AC3E}">
        <p14:creationId xmlns:p14="http://schemas.microsoft.com/office/powerpoint/2010/main" val="596602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15</a:t>
            </a:fld>
            <a:endParaRPr lang="es-CO"/>
          </a:p>
        </p:txBody>
      </p:sp>
    </p:spTree>
    <p:extLst>
      <p:ext uri="{BB962C8B-B14F-4D97-AF65-F5344CB8AC3E}">
        <p14:creationId xmlns:p14="http://schemas.microsoft.com/office/powerpoint/2010/main" val="1094762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15/10/2023</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15/10/2023</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2286781" y="2003197"/>
            <a:ext cx="7620000" cy="1200329"/>
          </a:xfrm>
          <a:prstGeom prst="rect">
            <a:avLst/>
          </a:prstGeom>
          <a:noFill/>
        </p:spPr>
        <p:txBody>
          <a:bodyPr wrap="square" rtlCol="0">
            <a:spAutoFit/>
          </a:bodyPr>
          <a:lstStyle/>
          <a:p>
            <a:pPr algn="ctr"/>
            <a:r>
              <a:rPr lang="en-001" sz="3600" b="1" dirty="0" smtClean="0">
                <a:solidFill>
                  <a:schemeClr val="tx1">
                    <a:lumMod val="75000"/>
                    <a:lumOff val="25000"/>
                  </a:schemeClr>
                </a:solidFill>
                <a:latin typeface="Work Sans" pitchFamily="2" charset="77"/>
              </a:rPr>
              <a:t>JavaScript:</a:t>
            </a:r>
          </a:p>
          <a:p>
            <a:pPr algn="ctr"/>
            <a:r>
              <a:rPr lang="es-ES" sz="3600" b="1" dirty="0" err="1">
                <a:solidFill>
                  <a:schemeClr val="tx1">
                    <a:lumMod val="75000"/>
                    <a:lumOff val="25000"/>
                  </a:schemeClr>
                </a:solidFill>
                <a:latin typeface="Work Sans" pitchFamily="2" charset="77"/>
              </a:rPr>
              <a:t>callbacks</a:t>
            </a:r>
            <a:r>
              <a:rPr lang="es-ES" sz="3600" b="1" dirty="0">
                <a:solidFill>
                  <a:schemeClr val="tx1">
                    <a:lumMod val="75000"/>
                    <a:lumOff val="25000"/>
                  </a:schemeClr>
                </a:solidFill>
                <a:latin typeface="Work Sans" pitchFamily="2" charset="77"/>
              </a:rPr>
              <a:t>, promesas y </a:t>
            </a:r>
            <a:r>
              <a:rPr lang="es-ES" sz="3600" b="1" dirty="0" err="1">
                <a:solidFill>
                  <a:schemeClr val="tx1">
                    <a:lumMod val="75000"/>
                    <a:lumOff val="25000"/>
                  </a:schemeClr>
                </a:solidFill>
                <a:latin typeface="Work Sans" pitchFamily="2" charset="77"/>
              </a:rPr>
              <a:t>async</a:t>
            </a:r>
            <a:r>
              <a:rPr lang="es-ES" sz="3600" b="1" dirty="0">
                <a:solidFill>
                  <a:schemeClr val="tx1">
                    <a:lumMod val="75000"/>
                    <a:lumOff val="25000"/>
                  </a:schemeClr>
                </a:solidFill>
                <a:latin typeface="Work Sans" pitchFamily="2" charset="77"/>
              </a:rPr>
              <a:t>/</a:t>
            </a:r>
            <a:r>
              <a:rPr lang="es-ES" sz="3600" b="1" dirty="0" err="1">
                <a:solidFill>
                  <a:schemeClr val="tx1">
                    <a:lumMod val="75000"/>
                    <a:lumOff val="25000"/>
                  </a:schemeClr>
                </a:solidFill>
                <a:latin typeface="Work Sans" pitchFamily="2" charset="77"/>
              </a:rPr>
              <a:t>await</a:t>
            </a:r>
            <a:endParaRPr lang="es-ES" sz="3600" b="1" dirty="0">
              <a:solidFill>
                <a:schemeClr val="tx1">
                  <a:lumMod val="75000"/>
                  <a:lumOff val="25000"/>
                </a:schemeClr>
              </a:solidFill>
              <a:latin typeface="Work Sans" pitchFamily="2" charset="77"/>
            </a:endParaRPr>
          </a:p>
        </p:txBody>
      </p:sp>
      <p:sp>
        <p:nvSpPr>
          <p:cNvPr id="2" name="Rectángulo 1"/>
          <p:cNvSpPr/>
          <p:nvPr/>
        </p:nvSpPr>
        <p:spPr>
          <a:xfrm>
            <a:off x="3064021" y="3578275"/>
            <a:ext cx="6065520" cy="1200329"/>
          </a:xfrm>
          <a:prstGeom prst="rect">
            <a:avLst/>
          </a:prstGeom>
        </p:spPr>
        <p:txBody>
          <a:bodyPr wrap="square">
            <a:spAutoFit/>
          </a:bodyPr>
          <a:lstStyle/>
          <a:p>
            <a:pPr algn="ctr"/>
            <a:r>
              <a:rPr lang="en-001" sz="3600" b="1" dirty="0">
                <a:solidFill>
                  <a:srgbClr val="38AA00"/>
                </a:solidFill>
                <a:latin typeface="Work Sans" pitchFamily="2" charset="77"/>
              </a:rPr>
              <a:t>Instructor:</a:t>
            </a:r>
          </a:p>
          <a:p>
            <a:pPr algn="ctr"/>
            <a:r>
              <a:rPr lang="en-001" sz="3600" b="1" dirty="0">
                <a:solidFill>
                  <a:srgbClr val="00324D"/>
                </a:solidFill>
                <a:latin typeface="Work Sans" pitchFamily="2" charset="77"/>
              </a:rPr>
              <a:t>Carlos Daniel Gomez Daza</a:t>
            </a:r>
            <a:endParaRPr lang="es-ES" sz="3600" b="1" dirty="0">
              <a:solidFill>
                <a:srgbClr val="00324D"/>
              </a:solidFill>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5"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s-ES" spc="-42" dirty="0">
                <a:solidFill>
                  <a:srgbClr val="FFF5EA"/>
                </a:solidFill>
                <a:latin typeface="Georgia"/>
                <a:cs typeface="Georgia"/>
              </a:rPr>
              <a:t>¿Qué es un </a:t>
            </a:r>
            <a:r>
              <a:rPr lang="es-ES" spc="-42" dirty="0" err="1">
                <a:solidFill>
                  <a:srgbClr val="FFF5EA"/>
                </a:solidFill>
                <a:latin typeface="Georgia"/>
                <a:cs typeface="Georgia"/>
              </a:rPr>
              <a:t>sístema</a:t>
            </a:r>
            <a:r>
              <a:rPr lang="es-ES" spc="-42" dirty="0">
                <a:solidFill>
                  <a:srgbClr val="FFF5EA"/>
                </a:solidFill>
                <a:latin typeface="Georgia"/>
                <a:cs typeface="Georgia"/>
              </a:rPr>
              <a:t> síncrono</a:t>
            </a:r>
            <a:r>
              <a:rPr lang="es-ES" spc="-42" dirty="0" smtClean="0">
                <a:solidFill>
                  <a:srgbClr val="FFF5EA"/>
                </a:solidFill>
                <a:latin typeface="Georgia"/>
                <a:cs typeface="Georgia"/>
              </a:rPr>
              <a:t>?</a:t>
            </a:r>
            <a:r>
              <a:rPr lang="en-001" spc="-42" dirty="0" smtClean="0">
                <a:solidFill>
                  <a:srgbClr val="FFF5EA"/>
                </a:solidFill>
                <a:latin typeface="Georgia"/>
                <a:cs typeface="Georgia"/>
              </a:rPr>
              <a:t>(Sync)</a:t>
            </a:r>
            <a:endParaRPr spc="-42" dirty="0">
              <a:solidFill>
                <a:srgbClr val="FFF5EA"/>
              </a:solidFill>
              <a:latin typeface="Georgia"/>
              <a:cs typeface="Georgia"/>
            </a:endParaRPr>
          </a:p>
        </p:txBody>
      </p:sp>
      <p:sp>
        <p:nvSpPr>
          <p:cNvPr id="2" name="Rectángulo 1"/>
          <p:cNvSpPr/>
          <p:nvPr/>
        </p:nvSpPr>
        <p:spPr>
          <a:xfrm>
            <a:off x="455613" y="1885295"/>
            <a:ext cx="3887787" cy="1200329"/>
          </a:xfrm>
          <a:prstGeom prst="rect">
            <a:avLst/>
          </a:prstGeom>
        </p:spPr>
        <p:txBody>
          <a:bodyPr wrap="square">
            <a:spAutoFit/>
          </a:bodyPr>
          <a:lstStyle/>
          <a:p>
            <a:pPr algn="just"/>
            <a:r>
              <a:rPr lang="es-ES" dirty="0"/>
              <a:t>En un </a:t>
            </a:r>
            <a:r>
              <a:rPr lang="es-ES" dirty="0" err="1"/>
              <a:t>sístema</a:t>
            </a:r>
            <a:r>
              <a:rPr lang="es-ES" dirty="0"/>
              <a:t> síncrono una tarea es terminada después de otra. Pensemos que tienes </a:t>
            </a:r>
            <a:r>
              <a:rPr lang="en-001" dirty="0"/>
              <a:t>3</a:t>
            </a:r>
            <a:r>
              <a:rPr lang="es-ES" dirty="0" smtClean="0"/>
              <a:t> </a:t>
            </a:r>
            <a:r>
              <a:rPr lang="es-ES" dirty="0"/>
              <a:t>tareas por completar, Debemos completar una tarea a la vez.</a:t>
            </a:r>
            <a:endParaRPr lang="es-CO" dirty="0"/>
          </a:p>
        </p:txBody>
      </p:sp>
      <p:pic>
        <p:nvPicPr>
          <p:cNvPr id="3" name="Imagen 2"/>
          <p:cNvPicPr>
            <a:picLocks noChangeAspect="1"/>
          </p:cNvPicPr>
          <p:nvPr/>
        </p:nvPicPr>
        <p:blipFill>
          <a:blip r:embed="rId2"/>
          <a:stretch>
            <a:fillRect/>
          </a:stretch>
        </p:blipFill>
        <p:spPr>
          <a:xfrm>
            <a:off x="5239648" y="2485459"/>
            <a:ext cx="6676445" cy="3550920"/>
          </a:xfrm>
          <a:prstGeom prst="rect">
            <a:avLst/>
          </a:prstGeom>
        </p:spPr>
      </p:pic>
    </p:spTree>
    <p:extLst>
      <p:ext uri="{BB962C8B-B14F-4D97-AF65-F5344CB8AC3E}">
        <p14:creationId xmlns:p14="http://schemas.microsoft.com/office/powerpoint/2010/main" val="1869659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5"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s-ES" spc="-42" dirty="0">
                <a:solidFill>
                  <a:srgbClr val="FFF5EA"/>
                </a:solidFill>
                <a:latin typeface="Georgia"/>
                <a:cs typeface="Georgia"/>
              </a:rPr>
              <a:t>¿Qué es un </a:t>
            </a:r>
            <a:r>
              <a:rPr lang="es-ES" spc="-42" dirty="0" err="1">
                <a:solidFill>
                  <a:srgbClr val="FFF5EA"/>
                </a:solidFill>
                <a:latin typeface="Georgia"/>
                <a:cs typeface="Georgia"/>
              </a:rPr>
              <a:t>sístema</a:t>
            </a:r>
            <a:r>
              <a:rPr lang="es-ES" spc="-42" dirty="0">
                <a:solidFill>
                  <a:srgbClr val="FFF5EA"/>
                </a:solidFill>
                <a:latin typeface="Georgia"/>
                <a:cs typeface="Georgia"/>
              </a:rPr>
              <a:t> </a:t>
            </a:r>
            <a:r>
              <a:rPr lang="en-001" spc="-42" dirty="0" smtClean="0">
                <a:solidFill>
                  <a:srgbClr val="FFF5EA"/>
                </a:solidFill>
                <a:latin typeface="Georgia"/>
                <a:cs typeface="Georgia"/>
              </a:rPr>
              <a:t>a</a:t>
            </a:r>
            <a:r>
              <a:rPr lang="es-ES" spc="-42" dirty="0" smtClean="0">
                <a:solidFill>
                  <a:srgbClr val="FFF5EA"/>
                </a:solidFill>
                <a:latin typeface="Georgia"/>
                <a:cs typeface="Georgia"/>
              </a:rPr>
              <a:t>síncrono?</a:t>
            </a:r>
            <a:r>
              <a:rPr lang="en-001" spc="-42" dirty="0" smtClean="0">
                <a:solidFill>
                  <a:srgbClr val="FFF5EA"/>
                </a:solidFill>
                <a:latin typeface="Georgia"/>
                <a:cs typeface="Georgia"/>
              </a:rPr>
              <a:t>(</a:t>
            </a:r>
            <a:r>
              <a:rPr lang="en-001" spc="-42" dirty="0" smtClean="0">
                <a:solidFill>
                  <a:srgbClr val="FFF5EA"/>
                </a:solidFill>
                <a:latin typeface="Georgia"/>
                <a:cs typeface="Georgia"/>
              </a:rPr>
              <a:t>Async</a:t>
            </a:r>
            <a:r>
              <a:rPr lang="en-001" spc="-42" dirty="0" smtClean="0">
                <a:solidFill>
                  <a:srgbClr val="FFF5EA"/>
                </a:solidFill>
                <a:latin typeface="Georgia"/>
                <a:cs typeface="Georgia"/>
              </a:rPr>
              <a:t>)</a:t>
            </a:r>
            <a:endParaRPr spc="-42" dirty="0">
              <a:solidFill>
                <a:srgbClr val="FFF5EA"/>
              </a:solidFill>
              <a:latin typeface="Georgia"/>
              <a:cs typeface="Georgia"/>
            </a:endParaRPr>
          </a:p>
        </p:txBody>
      </p:sp>
      <p:sp>
        <p:nvSpPr>
          <p:cNvPr id="6" name="Rectángulo 5"/>
          <p:cNvSpPr/>
          <p:nvPr/>
        </p:nvSpPr>
        <p:spPr>
          <a:xfrm>
            <a:off x="348933" y="1951672"/>
            <a:ext cx="5167947" cy="1477328"/>
          </a:xfrm>
          <a:prstGeom prst="rect">
            <a:avLst/>
          </a:prstGeom>
        </p:spPr>
        <p:txBody>
          <a:bodyPr wrap="square">
            <a:spAutoFit/>
          </a:bodyPr>
          <a:lstStyle/>
          <a:p>
            <a:pPr algn="just"/>
            <a:r>
              <a:rPr lang="es-ES" dirty="0"/>
              <a:t>En este sistema, las tareas son completadas independientemente.</a:t>
            </a:r>
          </a:p>
          <a:p>
            <a:pPr algn="just"/>
            <a:r>
              <a:rPr lang="es-ES" dirty="0"/>
              <a:t>Aquí, imagina que </a:t>
            </a:r>
            <a:r>
              <a:rPr lang="en-001" dirty="0" smtClean="0"/>
              <a:t>3 </a:t>
            </a:r>
            <a:r>
              <a:rPr lang="es-ES" dirty="0" smtClean="0"/>
              <a:t>tareas</a:t>
            </a:r>
            <a:r>
              <a:rPr lang="es-ES" dirty="0"/>
              <a:t>, tú tienes </a:t>
            </a:r>
            <a:r>
              <a:rPr lang="en-001" dirty="0"/>
              <a:t>3</a:t>
            </a:r>
            <a:r>
              <a:rPr lang="es-ES" dirty="0" smtClean="0"/>
              <a:t>manos</a:t>
            </a:r>
            <a:r>
              <a:rPr lang="es-ES" dirty="0"/>
              <a:t>. Entonces, cada mano puede hacer una tarea independientemente de las otras manos.</a:t>
            </a:r>
            <a:endParaRPr lang="es-CO" dirty="0"/>
          </a:p>
        </p:txBody>
      </p:sp>
      <p:pic>
        <p:nvPicPr>
          <p:cNvPr id="7" name="Imagen 6"/>
          <p:cNvPicPr>
            <a:picLocks noChangeAspect="1"/>
          </p:cNvPicPr>
          <p:nvPr/>
        </p:nvPicPr>
        <p:blipFill>
          <a:blip r:embed="rId2"/>
          <a:stretch>
            <a:fillRect/>
          </a:stretch>
        </p:blipFill>
        <p:spPr>
          <a:xfrm>
            <a:off x="5867400" y="2348746"/>
            <a:ext cx="6004560" cy="3377684"/>
          </a:xfrm>
          <a:prstGeom prst="rect">
            <a:avLst/>
          </a:prstGeom>
        </p:spPr>
      </p:pic>
    </p:spTree>
    <p:extLst>
      <p:ext uri="{BB962C8B-B14F-4D97-AF65-F5344CB8AC3E}">
        <p14:creationId xmlns:p14="http://schemas.microsoft.com/office/powerpoint/2010/main" val="3914593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Descargar </a:t>
            </a:r>
            <a:r>
              <a:rPr lang="en-001" spc="-42" dirty="0" smtClean="0">
                <a:solidFill>
                  <a:srgbClr val="FFF5EA"/>
                </a:solidFill>
                <a:latin typeface="Georgia"/>
                <a:cs typeface="Georgia"/>
              </a:rPr>
              <a:t>code runner</a:t>
            </a:r>
            <a:endParaRPr spc="-42" dirty="0">
              <a:solidFill>
                <a:srgbClr val="FFF5EA"/>
              </a:solidFill>
              <a:latin typeface="Georgia"/>
              <a:cs typeface="Georgia"/>
            </a:endParaRPr>
          </a:p>
        </p:txBody>
      </p:sp>
      <p:pic>
        <p:nvPicPr>
          <p:cNvPr id="2" name="Imagen 1"/>
          <p:cNvPicPr>
            <a:picLocks noChangeAspect="1"/>
          </p:cNvPicPr>
          <p:nvPr/>
        </p:nvPicPr>
        <p:blipFill>
          <a:blip r:embed="rId2"/>
          <a:stretch>
            <a:fillRect/>
          </a:stretch>
        </p:blipFill>
        <p:spPr>
          <a:xfrm>
            <a:off x="655319" y="1629662"/>
            <a:ext cx="8772843" cy="4895915"/>
          </a:xfrm>
          <a:prstGeom prst="rect">
            <a:avLst/>
          </a:prstGeom>
        </p:spPr>
      </p:pic>
    </p:spTree>
    <p:extLst>
      <p:ext uri="{BB962C8B-B14F-4D97-AF65-F5344CB8AC3E}">
        <p14:creationId xmlns:p14="http://schemas.microsoft.com/office/powerpoint/2010/main" val="396572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Ejemplo con </a:t>
            </a:r>
            <a:r>
              <a:rPr lang="en-001" spc="-42" dirty="0">
                <a:solidFill>
                  <a:srgbClr val="FFF5EA"/>
                </a:solidFill>
                <a:latin typeface="Georgia"/>
                <a:cs typeface="Georgia"/>
              </a:rPr>
              <a:t>S</a:t>
            </a:r>
            <a:r>
              <a:rPr lang="en-001" spc="-42" dirty="0" smtClean="0">
                <a:solidFill>
                  <a:srgbClr val="FFF5EA"/>
                </a:solidFill>
                <a:latin typeface="Georgia"/>
                <a:cs typeface="Georgia"/>
              </a:rPr>
              <a:t>ync</a:t>
            </a:r>
            <a:endParaRPr spc="-42" dirty="0">
              <a:solidFill>
                <a:srgbClr val="FFF5EA"/>
              </a:solidFill>
              <a:latin typeface="Georgia"/>
              <a:cs typeface="Georgia"/>
            </a:endParaRPr>
          </a:p>
        </p:txBody>
      </p:sp>
      <p:sp>
        <p:nvSpPr>
          <p:cNvPr id="2" name="Rectángulo 1"/>
          <p:cNvSpPr/>
          <p:nvPr/>
        </p:nvSpPr>
        <p:spPr>
          <a:xfrm>
            <a:off x="1036320" y="2413337"/>
            <a:ext cx="6096000" cy="2031325"/>
          </a:xfrm>
          <a:prstGeom prst="rect">
            <a:avLst/>
          </a:prstGeom>
        </p:spPr>
        <p:txBody>
          <a:bodyPr>
            <a:spAutoFit/>
          </a:bodyPr>
          <a:lstStyle/>
          <a:p>
            <a:r>
              <a:rPr lang="es-ES" dirty="0"/>
              <a:t>console.log("Yo");</a:t>
            </a:r>
          </a:p>
          <a:p>
            <a:endParaRPr lang="es-ES" dirty="0"/>
          </a:p>
          <a:p>
            <a:r>
              <a:rPr lang="es-ES" dirty="0"/>
              <a:t>// Veremos esto en 2 segundos</a:t>
            </a:r>
          </a:p>
          <a:p>
            <a:r>
              <a:rPr lang="es-ES" dirty="0" smtClean="0"/>
              <a:t>console.log</a:t>
            </a:r>
            <a:r>
              <a:rPr lang="es-ES" dirty="0"/>
              <a:t>("como");</a:t>
            </a:r>
          </a:p>
          <a:p>
            <a:endParaRPr lang="es-ES" dirty="0"/>
          </a:p>
          <a:p>
            <a:endParaRPr lang="es-ES" dirty="0"/>
          </a:p>
          <a:p>
            <a:r>
              <a:rPr lang="es-ES" dirty="0"/>
              <a:t>console.log("Helado")</a:t>
            </a:r>
            <a:endParaRPr lang="es-CO" dirty="0"/>
          </a:p>
        </p:txBody>
      </p:sp>
      <p:pic>
        <p:nvPicPr>
          <p:cNvPr id="3" name="Imagen 2"/>
          <p:cNvPicPr>
            <a:picLocks noChangeAspect="1"/>
          </p:cNvPicPr>
          <p:nvPr/>
        </p:nvPicPr>
        <p:blipFill>
          <a:blip r:embed="rId2"/>
          <a:stretch>
            <a:fillRect/>
          </a:stretch>
        </p:blipFill>
        <p:spPr>
          <a:xfrm>
            <a:off x="5513070" y="2071568"/>
            <a:ext cx="5235356" cy="3084195"/>
          </a:xfrm>
          <a:prstGeom prst="rect">
            <a:avLst/>
          </a:prstGeom>
        </p:spPr>
      </p:pic>
    </p:spTree>
    <p:extLst>
      <p:ext uri="{BB962C8B-B14F-4D97-AF65-F5344CB8AC3E}">
        <p14:creationId xmlns:p14="http://schemas.microsoft.com/office/powerpoint/2010/main" val="3142534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Ejemplo con </a:t>
            </a:r>
            <a:r>
              <a:rPr lang="en-001" spc="-42" dirty="0" smtClean="0">
                <a:solidFill>
                  <a:srgbClr val="FFF5EA"/>
                </a:solidFill>
                <a:latin typeface="Georgia"/>
                <a:cs typeface="Georgia"/>
              </a:rPr>
              <a:t>Async</a:t>
            </a:r>
            <a:endParaRPr spc="-42" dirty="0">
              <a:solidFill>
                <a:srgbClr val="FFF5EA"/>
              </a:solidFill>
              <a:latin typeface="Georgia"/>
              <a:cs typeface="Georgia"/>
            </a:endParaRPr>
          </a:p>
        </p:txBody>
      </p:sp>
      <p:sp>
        <p:nvSpPr>
          <p:cNvPr id="2" name="Rectángulo 1"/>
          <p:cNvSpPr/>
          <p:nvPr/>
        </p:nvSpPr>
        <p:spPr>
          <a:xfrm>
            <a:off x="1051560" y="2136338"/>
            <a:ext cx="6096000" cy="2585323"/>
          </a:xfrm>
          <a:prstGeom prst="rect">
            <a:avLst/>
          </a:prstGeom>
        </p:spPr>
        <p:txBody>
          <a:bodyPr>
            <a:spAutoFit/>
          </a:bodyPr>
          <a:lstStyle/>
          <a:p>
            <a:r>
              <a:rPr lang="es-ES" dirty="0"/>
              <a:t>console.log("Yo");</a:t>
            </a:r>
          </a:p>
          <a:p>
            <a:endParaRPr lang="es-ES" dirty="0"/>
          </a:p>
          <a:p>
            <a:r>
              <a:rPr lang="es-ES" dirty="0"/>
              <a:t>// Veremos esto en 2 segundos</a:t>
            </a:r>
          </a:p>
          <a:p>
            <a:endParaRPr lang="es-ES" dirty="0"/>
          </a:p>
          <a:p>
            <a:r>
              <a:rPr lang="es-ES" dirty="0" err="1"/>
              <a:t>setTimeout</a:t>
            </a:r>
            <a:r>
              <a:rPr lang="es-ES" dirty="0"/>
              <a:t>(()=&gt;{</a:t>
            </a:r>
          </a:p>
          <a:p>
            <a:r>
              <a:rPr lang="es-ES" dirty="0"/>
              <a:t>  console.log("como");</a:t>
            </a:r>
          </a:p>
          <a:p>
            <a:r>
              <a:rPr lang="es-ES" dirty="0"/>
              <a:t>},2000)</a:t>
            </a:r>
          </a:p>
          <a:p>
            <a:endParaRPr lang="es-ES" dirty="0"/>
          </a:p>
          <a:p>
            <a:r>
              <a:rPr lang="es-ES" dirty="0"/>
              <a:t>console.log("Helado")</a:t>
            </a:r>
            <a:endParaRPr lang="es-CO" dirty="0"/>
          </a:p>
        </p:txBody>
      </p:sp>
      <p:pic>
        <p:nvPicPr>
          <p:cNvPr id="5" name="Imagen 4"/>
          <p:cNvPicPr>
            <a:picLocks noChangeAspect="1"/>
          </p:cNvPicPr>
          <p:nvPr/>
        </p:nvPicPr>
        <p:blipFill>
          <a:blip r:embed="rId2"/>
          <a:stretch>
            <a:fillRect/>
          </a:stretch>
        </p:blipFill>
        <p:spPr>
          <a:xfrm>
            <a:off x="6214783" y="2136338"/>
            <a:ext cx="4231333" cy="3109914"/>
          </a:xfrm>
          <a:prstGeom prst="rect">
            <a:avLst/>
          </a:prstGeom>
        </p:spPr>
      </p:pic>
    </p:spTree>
    <p:extLst>
      <p:ext uri="{BB962C8B-B14F-4D97-AF65-F5344CB8AC3E}">
        <p14:creationId xmlns:p14="http://schemas.microsoft.com/office/powerpoint/2010/main" val="534349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Callback</a:t>
            </a:r>
            <a:endParaRPr spc="-42" dirty="0">
              <a:solidFill>
                <a:srgbClr val="FFF5EA"/>
              </a:solidFill>
              <a:latin typeface="Georgia"/>
              <a:cs typeface="Georgia"/>
            </a:endParaRPr>
          </a:p>
        </p:txBody>
      </p:sp>
      <p:sp>
        <p:nvSpPr>
          <p:cNvPr id="3" name="Rectángulo 2"/>
          <p:cNvSpPr/>
          <p:nvPr/>
        </p:nvSpPr>
        <p:spPr>
          <a:xfrm>
            <a:off x="579120" y="1719727"/>
            <a:ext cx="6096000" cy="923330"/>
          </a:xfrm>
          <a:prstGeom prst="rect">
            <a:avLst/>
          </a:prstGeom>
        </p:spPr>
        <p:txBody>
          <a:bodyPr>
            <a:spAutoFit/>
          </a:bodyPr>
          <a:lstStyle/>
          <a:p>
            <a:r>
              <a:rPr lang="es-ES" dirty="0"/>
              <a:t>Cuando pasamos una función a otra función como un argumento, esto lo llamamos </a:t>
            </a:r>
            <a:r>
              <a:rPr lang="es-ES" dirty="0" err="1"/>
              <a:t>callback</a:t>
            </a:r>
            <a:r>
              <a:rPr lang="es-ES" dirty="0"/>
              <a:t>.</a:t>
            </a:r>
          </a:p>
          <a:p>
            <a:r>
              <a:rPr lang="es-ES" dirty="0"/>
              <a:t>Aquí podemos ver un ejemplo de una función </a:t>
            </a:r>
            <a:r>
              <a:rPr lang="es-ES" dirty="0" err="1"/>
              <a:t>callback</a:t>
            </a:r>
            <a:r>
              <a:rPr lang="es-ES" dirty="0"/>
              <a:t>:</a:t>
            </a:r>
            <a:endParaRPr lang="es-CO" dirty="0"/>
          </a:p>
        </p:txBody>
      </p:sp>
      <p:pic>
        <p:nvPicPr>
          <p:cNvPr id="6" name="Imagen 5"/>
          <p:cNvPicPr>
            <a:picLocks noChangeAspect="1"/>
          </p:cNvPicPr>
          <p:nvPr/>
        </p:nvPicPr>
        <p:blipFill>
          <a:blip r:embed="rId3"/>
          <a:stretch>
            <a:fillRect/>
          </a:stretch>
        </p:blipFill>
        <p:spPr>
          <a:xfrm>
            <a:off x="455613" y="2914650"/>
            <a:ext cx="6000750" cy="3467100"/>
          </a:xfrm>
          <a:prstGeom prst="rect">
            <a:avLst/>
          </a:prstGeom>
        </p:spPr>
      </p:pic>
    </p:spTree>
    <p:extLst>
      <p:ext uri="{BB962C8B-B14F-4D97-AF65-F5344CB8AC3E}">
        <p14:creationId xmlns:p14="http://schemas.microsoft.com/office/powerpoint/2010/main" val="520275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Callback: Ejemplo paso 1 </a:t>
            </a:r>
            <a:endParaRPr spc="-42" dirty="0">
              <a:solidFill>
                <a:srgbClr val="FFF5EA"/>
              </a:solidFill>
              <a:latin typeface="Georgia"/>
              <a:cs typeface="Georgia"/>
            </a:endParaRPr>
          </a:p>
        </p:txBody>
      </p:sp>
      <p:sp>
        <p:nvSpPr>
          <p:cNvPr id="2" name="Rectángulo 1"/>
          <p:cNvSpPr/>
          <p:nvPr/>
        </p:nvSpPr>
        <p:spPr>
          <a:xfrm>
            <a:off x="990600" y="1840081"/>
            <a:ext cx="6096000" cy="3970318"/>
          </a:xfrm>
          <a:prstGeom prst="rect">
            <a:avLst/>
          </a:prstGeom>
        </p:spPr>
        <p:txBody>
          <a:bodyPr>
            <a:spAutoFit/>
          </a:bodyPr>
          <a:lstStyle/>
          <a:p>
            <a:r>
              <a:rPr lang="es-CO" smtClean="0"/>
              <a:t>const articles = [</a:t>
            </a:r>
          </a:p>
          <a:p>
            <a:r>
              <a:rPr lang="es-CO" smtClean="0"/>
              <a:t>   {title:'First article'},</a:t>
            </a:r>
          </a:p>
          <a:p>
            <a:r>
              <a:rPr lang="es-CO" smtClean="0"/>
              <a:t>   {title:'Second article'}</a:t>
            </a:r>
          </a:p>
          <a:p>
            <a:r>
              <a:rPr lang="es-CO" smtClean="0"/>
              <a:t>];</a:t>
            </a:r>
          </a:p>
          <a:p>
            <a:r>
              <a:rPr lang="es-CO" smtClean="0"/>
              <a:t>function getArticles(){</a:t>
            </a:r>
          </a:p>
          <a:p>
            <a:r>
              <a:rPr lang="es-CO" smtClean="0"/>
              <a:t>   setTimeout(()=&gt;{</a:t>
            </a:r>
          </a:p>
          <a:p>
            <a:r>
              <a:rPr lang="es-CO" smtClean="0"/>
              <a:t>      let articleContent='';</a:t>
            </a:r>
          </a:p>
          <a:p>
            <a:r>
              <a:rPr lang="es-CO" smtClean="0"/>
              <a:t>      articles.forEach((article,index)=&gt;{</a:t>
            </a:r>
          </a:p>
          <a:p>
            <a:r>
              <a:rPr lang="es-CO" smtClean="0"/>
              <a:t>         articleContent+=`${article.title}`+` `;</a:t>
            </a:r>
          </a:p>
          <a:p>
            <a:r>
              <a:rPr lang="es-CO" smtClean="0"/>
              <a:t>         });</a:t>
            </a:r>
          </a:p>
          <a:p>
            <a:r>
              <a:rPr lang="es-CO" smtClean="0"/>
              <a:t>         console.log(articleContent);</a:t>
            </a:r>
          </a:p>
          <a:p>
            <a:r>
              <a:rPr lang="es-CO" smtClean="0"/>
              <a:t>      },1000);</a:t>
            </a:r>
          </a:p>
          <a:p>
            <a:r>
              <a:rPr lang="es-CO" smtClean="0"/>
              <a:t>   };</a:t>
            </a:r>
          </a:p>
          <a:p>
            <a:r>
              <a:rPr lang="es-CO" smtClean="0"/>
              <a:t>getArticles();</a:t>
            </a:r>
            <a:endParaRPr lang="es-CO" dirty="0"/>
          </a:p>
        </p:txBody>
      </p:sp>
      <p:sp>
        <p:nvSpPr>
          <p:cNvPr id="5" name="Rectángulo 4"/>
          <p:cNvSpPr/>
          <p:nvPr/>
        </p:nvSpPr>
        <p:spPr>
          <a:xfrm>
            <a:off x="5501640" y="1840081"/>
            <a:ext cx="6096000" cy="2308324"/>
          </a:xfrm>
          <a:prstGeom prst="rect">
            <a:avLst/>
          </a:prstGeom>
        </p:spPr>
        <p:txBody>
          <a:bodyPr>
            <a:spAutoFit/>
          </a:bodyPr>
          <a:lstStyle/>
          <a:p>
            <a:r>
              <a:rPr lang="es-ES" dirty="0"/>
              <a:t>Aquí, simplemente creamos una matriz de artículos y se imprime en la consola después de 1 segundo.</a:t>
            </a:r>
          </a:p>
          <a:p>
            <a:endParaRPr lang="es-ES" dirty="0"/>
          </a:p>
          <a:p>
            <a:r>
              <a:rPr lang="es-ES" dirty="0"/>
              <a:t>El uso de la función </a:t>
            </a:r>
            <a:r>
              <a:rPr lang="es-ES" dirty="0" err="1"/>
              <a:t>setTimeout</a:t>
            </a:r>
            <a:r>
              <a:rPr lang="es-ES" dirty="0"/>
              <a:t> con 1 segundo de tiempo es solo para mostrar un comportamiento como desde el servidor.</a:t>
            </a:r>
          </a:p>
          <a:p>
            <a:endParaRPr lang="es-ES" dirty="0"/>
          </a:p>
          <a:p>
            <a:r>
              <a:rPr lang="es-ES" dirty="0"/>
              <a:t>Ahora, ¿qué pasa si agregamos un nuevo artículo a la lista anterior a través de otra función?</a:t>
            </a:r>
            <a:endParaRPr lang="es-CO" dirty="0"/>
          </a:p>
        </p:txBody>
      </p:sp>
      <p:sp>
        <p:nvSpPr>
          <p:cNvPr id="7" name="Rectángulo 6"/>
          <p:cNvSpPr/>
          <p:nvPr/>
        </p:nvSpPr>
        <p:spPr>
          <a:xfrm>
            <a:off x="5713413" y="4443769"/>
            <a:ext cx="6096000" cy="1477328"/>
          </a:xfrm>
          <a:prstGeom prst="rect">
            <a:avLst/>
          </a:prstGeom>
        </p:spPr>
        <p:txBody>
          <a:bodyPr>
            <a:spAutoFit/>
          </a:bodyPr>
          <a:lstStyle/>
          <a:p>
            <a:r>
              <a:rPr lang="en-US" dirty="0"/>
              <a:t>function </a:t>
            </a:r>
            <a:r>
              <a:rPr lang="en-US" dirty="0" err="1"/>
              <a:t>createArticle</a:t>
            </a:r>
            <a:r>
              <a:rPr lang="en-US" dirty="0"/>
              <a:t>(article){</a:t>
            </a:r>
          </a:p>
          <a:p>
            <a:r>
              <a:rPr lang="en-US" dirty="0"/>
              <a:t>   </a:t>
            </a:r>
            <a:r>
              <a:rPr lang="en-US" dirty="0" err="1"/>
              <a:t>setTimeout</a:t>
            </a:r>
            <a:r>
              <a:rPr lang="en-US" dirty="0"/>
              <a:t>(()=&gt;{</a:t>
            </a:r>
          </a:p>
          <a:p>
            <a:r>
              <a:rPr lang="en-US" dirty="0"/>
              <a:t>      </a:t>
            </a:r>
            <a:r>
              <a:rPr lang="en-US" dirty="0" err="1"/>
              <a:t>articles.push</a:t>
            </a:r>
            <a:r>
              <a:rPr lang="en-US" dirty="0"/>
              <a:t>(article);</a:t>
            </a:r>
          </a:p>
          <a:p>
            <a:r>
              <a:rPr lang="en-US" dirty="0"/>
              <a:t>   },2000);</a:t>
            </a:r>
          </a:p>
          <a:p>
            <a:r>
              <a:rPr lang="en-US" dirty="0"/>
              <a:t>}</a:t>
            </a:r>
            <a:endParaRPr lang="es-CO" dirty="0"/>
          </a:p>
        </p:txBody>
      </p:sp>
    </p:spTree>
    <p:extLst>
      <p:ext uri="{BB962C8B-B14F-4D97-AF65-F5344CB8AC3E}">
        <p14:creationId xmlns:p14="http://schemas.microsoft.com/office/powerpoint/2010/main" val="161204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Callback: Ejemplo paso 2 </a:t>
            </a:r>
            <a:endParaRPr spc="-42" dirty="0">
              <a:solidFill>
                <a:srgbClr val="FFF5EA"/>
              </a:solidFill>
              <a:latin typeface="Georgia"/>
              <a:cs typeface="Georgia"/>
            </a:endParaRPr>
          </a:p>
        </p:txBody>
      </p:sp>
      <p:sp>
        <p:nvSpPr>
          <p:cNvPr id="3" name="Rectángulo 2"/>
          <p:cNvSpPr/>
          <p:nvPr/>
        </p:nvSpPr>
        <p:spPr>
          <a:xfrm>
            <a:off x="455613" y="1582824"/>
            <a:ext cx="7956867" cy="646331"/>
          </a:xfrm>
          <a:prstGeom prst="rect">
            <a:avLst/>
          </a:prstGeom>
        </p:spPr>
        <p:txBody>
          <a:bodyPr wrap="square">
            <a:spAutoFit/>
          </a:bodyPr>
          <a:lstStyle/>
          <a:p>
            <a:r>
              <a:rPr lang="es-ES" dirty="0"/>
              <a:t>Si ahora llamamos a </a:t>
            </a:r>
            <a:r>
              <a:rPr lang="es-ES" dirty="0" err="1"/>
              <a:t>createArticle</a:t>
            </a:r>
            <a:r>
              <a:rPr lang="es-ES" dirty="0"/>
              <a:t> con new </a:t>
            </a:r>
            <a:r>
              <a:rPr lang="es-ES" dirty="0" err="1"/>
              <a:t>article</a:t>
            </a:r>
            <a:r>
              <a:rPr lang="es-ES" dirty="0"/>
              <a:t> y luego </a:t>
            </a:r>
            <a:r>
              <a:rPr lang="es-ES" dirty="0" err="1"/>
              <a:t>getArticle</a:t>
            </a:r>
            <a:r>
              <a:rPr lang="es-ES" dirty="0"/>
              <a:t>, deberíamos obtener tres artículos, pero solo obtenemos los dos primeros artículos</a:t>
            </a:r>
            <a:endParaRPr lang="es-CO" dirty="0"/>
          </a:p>
        </p:txBody>
      </p:sp>
      <p:sp>
        <p:nvSpPr>
          <p:cNvPr id="6" name="Rectángulo 5"/>
          <p:cNvSpPr/>
          <p:nvPr/>
        </p:nvSpPr>
        <p:spPr>
          <a:xfrm>
            <a:off x="640080" y="2350115"/>
            <a:ext cx="6096000" cy="4401205"/>
          </a:xfrm>
          <a:prstGeom prst="rect">
            <a:avLst/>
          </a:prstGeom>
        </p:spPr>
        <p:txBody>
          <a:bodyPr>
            <a:spAutoFit/>
          </a:bodyPr>
          <a:lstStyle/>
          <a:p>
            <a:r>
              <a:rPr lang="es-CO" sz="1400" dirty="0" err="1"/>
              <a:t>const</a:t>
            </a:r>
            <a:r>
              <a:rPr lang="es-CO" sz="1400" dirty="0"/>
              <a:t> </a:t>
            </a:r>
            <a:r>
              <a:rPr lang="es-CO" sz="1400" dirty="0" err="1"/>
              <a:t>articles</a:t>
            </a:r>
            <a:r>
              <a:rPr lang="es-CO" sz="1400" dirty="0"/>
              <a:t> = [</a:t>
            </a:r>
          </a:p>
          <a:p>
            <a:r>
              <a:rPr lang="es-CO" sz="1400" dirty="0"/>
              <a:t>   {</a:t>
            </a:r>
            <a:r>
              <a:rPr lang="es-CO" sz="1400" dirty="0" err="1"/>
              <a:t>title</a:t>
            </a:r>
            <a:r>
              <a:rPr lang="es-CO" sz="1400" dirty="0"/>
              <a:t>:'</a:t>
            </a:r>
            <a:r>
              <a:rPr lang="es-CO" sz="1400" dirty="0" err="1"/>
              <a:t>First</a:t>
            </a:r>
            <a:r>
              <a:rPr lang="es-CO" sz="1400" dirty="0"/>
              <a:t> </a:t>
            </a:r>
            <a:r>
              <a:rPr lang="es-CO" sz="1400" dirty="0" err="1"/>
              <a:t>article</a:t>
            </a:r>
            <a:r>
              <a:rPr lang="es-CO" sz="1400" dirty="0"/>
              <a:t>'},</a:t>
            </a:r>
          </a:p>
          <a:p>
            <a:r>
              <a:rPr lang="es-CO" sz="1400" dirty="0"/>
              <a:t>   {</a:t>
            </a:r>
            <a:r>
              <a:rPr lang="es-CO" sz="1400" dirty="0" err="1"/>
              <a:t>title</a:t>
            </a:r>
            <a:r>
              <a:rPr lang="es-CO" sz="1400" dirty="0"/>
              <a:t>:'</a:t>
            </a:r>
            <a:r>
              <a:rPr lang="es-CO" sz="1400" dirty="0" err="1"/>
              <a:t>Second</a:t>
            </a:r>
            <a:r>
              <a:rPr lang="es-CO" sz="1400" dirty="0"/>
              <a:t> </a:t>
            </a:r>
            <a:r>
              <a:rPr lang="es-CO" sz="1400" dirty="0" err="1"/>
              <a:t>article</a:t>
            </a:r>
            <a:r>
              <a:rPr lang="es-CO" sz="1400" dirty="0"/>
              <a:t>'}</a:t>
            </a:r>
          </a:p>
          <a:p>
            <a:r>
              <a:rPr lang="es-CO" sz="1400" dirty="0"/>
              <a:t>];</a:t>
            </a:r>
          </a:p>
          <a:p>
            <a:r>
              <a:rPr lang="es-CO" sz="1400" dirty="0" err="1"/>
              <a:t>function</a:t>
            </a:r>
            <a:r>
              <a:rPr lang="es-CO" sz="1400" dirty="0"/>
              <a:t> </a:t>
            </a:r>
            <a:r>
              <a:rPr lang="es-CO" sz="1400" dirty="0" err="1"/>
              <a:t>getArticles</a:t>
            </a:r>
            <a:r>
              <a:rPr lang="es-CO" sz="1400" dirty="0"/>
              <a:t>(){</a:t>
            </a:r>
          </a:p>
          <a:p>
            <a:r>
              <a:rPr lang="es-CO" sz="1400" dirty="0"/>
              <a:t>   </a:t>
            </a:r>
            <a:r>
              <a:rPr lang="es-CO" sz="1400" dirty="0" err="1"/>
              <a:t>setTimeout</a:t>
            </a:r>
            <a:r>
              <a:rPr lang="es-CO" sz="1400" dirty="0"/>
              <a:t>(()=&gt;{</a:t>
            </a:r>
          </a:p>
          <a:p>
            <a:r>
              <a:rPr lang="es-CO" sz="1400" dirty="0"/>
              <a:t>      </a:t>
            </a:r>
            <a:r>
              <a:rPr lang="es-CO" sz="1400" dirty="0" err="1"/>
              <a:t>let</a:t>
            </a:r>
            <a:r>
              <a:rPr lang="es-CO" sz="1400" dirty="0"/>
              <a:t> </a:t>
            </a:r>
            <a:r>
              <a:rPr lang="es-CO" sz="1400" dirty="0" err="1"/>
              <a:t>articleContent</a:t>
            </a:r>
            <a:r>
              <a:rPr lang="es-CO" sz="1400" dirty="0"/>
              <a:t>='';</a:t>
            </a:r>
          </a:p>
          <a:p>
            <a:r>
              <a:rPr lang="es-CO" sz="1400" dirty="0"/>
              <a:t>      </a:t>
            </a:r>
            <a:r>
              <a:rPr lang="es-CO" sz="1400" dirty="0" err="1"/>
              <a:t>articles.forEach</a:t>
            </a:r>
            <a:r>
              <a:rPr lang="es-CO" sz="1400" dirty="0"/>
              <a:t>((</a:t>
            </a:r>
            <a:r>
              <a:rPr lang="es-CO" sz="1400" dirty="0" err="1"/>
              <a:t>article,index</a:t>
            </a:r>
            <a:r>
              <a:rPr lang="es-CO" sz="1400" dirty="0"/>
              <a:t>)=&gt;{</a:t>
            </a:r>
          </a:p>
          <a:p>
            <a:r>
              <a:rPr lang="es-CO" sz="1400" dirty="0"/>
              <a:t>         </a:t>
            </a:r>
            <a:r>
              <a:rPr lang="es-CO" sz="1400" dirty="0" err="1"/>
              <a:t>articleContent</a:t>
            </a:r>
            <a:r>
              <a:rPr lang="es-CO" sz="1400" dirty="0"/>
              <a:t>+=`${</a:t>
            </a:r>
            <a:r>
              <a:rPr lang="es-CO" sz="1400" dirty="0" err="1"/>
              <a:t>article.title</a:t>
            </a:r>
            <a:r>
              <a:rPr lang="es-CO" sz="1400" dirty="0"/>
              <a:t>}`+` `;</a:t>
            </a:r>
          </a:p>
          <a:p>
            <a:r>
              <a:rPr lang="es-CO" sz="1400" dirty="0"/>
              <a:t>         });</a:t>
            </a:r>
          </a:p>
          <a:p>
            <a:r>
              <a:rPr lang="es-CO" sz="1400" dirty="0"/>
              <a:t>         console.log(</a:t>
            </a:r>
            <a:r>
              <a:rPr lang="es-CO" sz="1400" dirty="0" err="1"/>
              <a:t>articleContent</a:t>
            </a:r>
            <a:r>
              <a:rPr lang="es-CO" sz="1400" dirty="0"/>
              <a:t>);</a:t>
            </a:r>
          </a:p>
          <a:p>
            <a:r>
              <a:rPr lang="es-CO" sz="1400" dirty="0"/>
              <a:t>      },1000);  </a:t>
            </a:r>
          </a:p>
          <a:p>
            <a:r>
              <a:rPr lang="es-CO" sz="1400" dirty="0"/>
              <a:t>   };</a:t>
            </a:r>
          </a:p>
          <a:p>
            <a:r>
              <a:rPr lang="es-CO" sz="1400" dirty="0"/>
              <a:t>   </a:t>
            </a:r>
            <a:r>
              <a:rPr lang="es-CO" sz="1400" dirty="0" err="1"/>
              <a:t>function</a:t>
            </a:r>
            <a:r>
              <a:rPr lang="es-CO" sz="1400" dirty="0"/>
              <a:t> </a:t>
            </a:r>
            <a:r>
              <a:rPr lang="es-CO" sz="1400" dirty="0" err="1"/>
              <a:t>createArticle</a:t>
            </a:r>
            <a:r>
              <a:rPr lang="es-CO" sz="1400" dirty="0"/>
              <a:t>(</a:t>
            </a:r>
            <a:r>
              <a:rPr lang="es-CO" sz="1400" dirty="0" err="1"/>
              <a:t>article</a:t>
            </a:r>
            <a:r>
              <a:rPr lang="es-CO" sz="1400" dirty="0"/>
              <a:t>){</a:t>
            </a:r>
          </a:p>
          <a:p>
            <a:r>
              <a:rPr lang="es-CO" sz="1400" dirty="0"/>
              <a:t>      </a:t>
            </a:r>
            <a:r>
              <a:rPr lang="es-CO" sz="1400" dirty="0" err="1"/>
              <a:t>setTimeout</a:t>
            </a:r>
            <a:r>
              <a:rPr lang="es-CO" sz="1400" dirty="0"/>
              <a:t>(()=&gt;{</a:t>
            </a:r>
          </a:p>
          <a:p>
            <a:r>
              <a:rPr lang="es-CO" sz="1400" dirty="0"/>
              <a:t>         </a:t>
            </a:r>
            <a:r>
              <a:rPr lang="es-CO" sz="1400" dirty="0" err="1"/>
              <a:t>articles.push</a:t>
            </a:r>
            <a:r>
              <a:rPr lang="es-CO" sz="1400" dirty="0"/>
              <a:t>(</a:t>
            </a:r>
            <a:r>
              <a:rPr lang="es-CO" sz="1400" dirty="0" err="1"/>
              <a:t>article</a:t>
            </a:r>
            <a:r>
              <a:rPr lang="es-CO" sz="1400" dirty="0"/>
              <a:t>);</a:t>
            </a:r>
          </a:p>
          <a:p>
            <a:r>
              <a:rPr lang="es-CO" sz="1400" dirty="0"/>
              <a:t>      },2000);</a:t>
            </a:r>
          </a:p>
          <a:p>
            <a:r>
              <a:rPr lang="es-CO" sz="1400" dirty="0"/>
              <a:t>   }</a:t>
            </a:r>
          </a:p>
          <a:p>
            <a:r>
              <a:rPr lang="es-CO" sz="1400" dirty="0" err="1"/>
              <a:t>createArticle</a:t>
            </a:r>
            <a:r>
              <a:rPr lang="es-CO" sz="1400" dirty="0"/>
              <a:t>({</a:t>
            </a:r>
            <a:r>
              <a:rPr lang="es-CO" sz="1400" dirty="0" err="1"/>
              <a:t>title</a:t>
            </a:r>
            <a:r>
              <a:rPr lang="es-CO" sz="1400" dirty="0"/>
              <a:t>:'</a:t>
            </a:r>
            <a:r>
              <a:rPr lang="es-CO" sz="1400" dirty="0" err="1"/>
              <a:t>Third</a:t>
            </a:r>
            <a:r>
              <a:rPr lang="es-CO" sz="1400" dirty="0"/>
              <a:t> </a:t>
            </a:r>
            <a:r>
              <a:rPr lang="es-CO" sz="1400" dirty="0" err="1"/>
              <a:t>article</a:t>
            </a:r>
            <a:r>
              <a:rPr lang="es-CO" sz="1400" dirty="0"/>
              <a:t>'});</a:t>
            </a:r>
          </a:p>
          <a:p>
            <a:r>
              <a:rPr lang="es-CO" sz="1400" dirty="0" err="1"/>
              <a:t>getArticles</a:t>
            </a:r>
            <a:r>
              <a:rPr lang="es-CO" sz="1400" dirty="0"/>
              <a:t>();</a:t>
            </a:r>
          </a:p>
        </p:txBody>
      </p:sp>
      <p:sp>
        <p:nvSpPr>
          <p:cNvPr id="9" name="Rectángulo 8"/>
          <p:cNvSpPr/>
          <p:nvPr/>
        </p:nvSpPr>
        <p:spPr>
          <a:xfrm>
            <a:off x="5713413" y="3073389"/>
            <a:ext cx="6096000" cy="1477328"/>
          </a:xfrm>
          <a:prstGeom prst="rect">
            <a:avLst/>
          </a:prstGeom>
        </p:spPr>
        <p:txBody>
          <a:bodyPr>
            <a:spAutoFit/>
          </a:bodyPr>
          <a:lstStyle/>
          <a:p>
            <a:r>
              <a:rPr lang="es-ES" dirty="0"/>
              <a:t>¿Por qué es así?</a:t>
            </a:r>
          </a:p>
          <a:p>
            <a:endParaRPr lang="es-ES" dirty="0"/>
          </a:p>
          <a:p>
            <a:r>
              <a:rPr lang="es-ES" dirty="0"/>
              <a:t>Debido a que la ejecución de </a:t>
            </a:r>
            <a:r>
              <a:rPr lang="es-ES" dirty="0" err="1"/>
              <a:t>createArticle</a:t>
            </a:r>
            <a:r>
              <a:rPr lang="es-ES" dirty="0"/>
              <a:t> tiene un tiempo de espera de 2 segundos y, mientras tanto, </a:t>
            </a:r>
            <a:r>
              <a:rPr lang="es-ES" dirty="0" err="1"/>
              <a:t>getArticle</a:t>
            </a:r>
            <a:r>
              <a:rPr lang="es-ES" dirty="0"/>
              <a:t> completa su ejecución</a:t>
            </a:r>
            <a:endParaRPr lang="es-CO" dirty="0"/>
          </a:p>
        </p:txBody>
      </p:sp>
    </p:spTree>
    <p:extLst>
      <p:ext uri="{BB962C8B-B14F-4D97-AF65-F5344CB8AC3E}">
        <p14:creationId xmlns:p14="http://schemas.microsoft.com/office/powerpoint/2010/main" val="2217654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Callback: Ejemplo paso 3 </a:t>
            </a:r>
            <a:endParaRPr spc="-42" dirty="0">
              <a:solidFill>
                <a:srgbClr val="FFF5EA"/>
              </a:solidFill>
              <a:latin typeface="Georgia"/>
              <a:cs typeface="Georgia"/>
            </a:endParaRPr>
          </a:p>
        </p:txBody>
      </p:sp>
      <p:sp>
        <p:nvSpPr>
          <p:cNvPr id="2" name="Rectángulo 1"/>
          <p:cNvSpPr/>
          <p:nvPr/>
        </p:nvSpPr>
        <p:spPr>
          <a:xfrm>
            <a:off x="838200" y="1484769"/>
            <a:ext cx="6096000" cy="5016758"/>
          </a:xfrm>
          <a:prstGeom prst="rect">
            <a:avLst/>
          </a:prstGeom>
        </p:spPr>
        <p:txBody>
          <a:bodyPr>
            <a:spAutoFit/>
          </a:bodyPr>
          <a:lstStyle/>
          <a:p>
            <a:r>
              <a:rPr lang="es-CO" sz="1600" dirty="0" err="1"/>
              <a:t>const</a:t>
            </a:r>
            <a:r>
              <a:rPr lang="es-CO" sz="1600" dirty="0"/>
              <a:t> </a:t>
            </a:r>
            <a:r>
              <a:rPr lang="es-CO" sz="1600" dirty="0" err="1"/>
              <a:t>articles</a:t>
            </a:r>
            <a:r>
              <a:rPr lang="es-CO" sz="1600" dirty="0"/>
              <a:t> = [</a:t>
            </a:r>
          </a:p>
          <a:p>
            <a:r>
              <a:rPr lang="es-CO" sz="1600" dirty="0"/>
              <a:t>   {</a:t>
            </a:r>
            <a:r>
              <a:rPr lang="es-CO" sz="1600" dirty="0" err="1"/>
              <a:t>title</a:t>
            </a:r>
            <a:r>
              <a:rPr lang="es-CO" sz="1600" dirty="0"/>
              <a:t>:'</a:t>
            </a:r>
            <a:r>
              <a:rPr lang="es-CO" sz="1600" dirty="0" err="1"/>
              <a:t>First</a:t>
            </a:r>
            <a:r>
              <a:rPr lang="es-CO" sz="1600" dirty="0"/>
              <a:t> </a:t>
            </a:r>
            <a:r>
              <a:rPr lang="es-CO" sz="1600" dirty="0" err="1"/>
              <a:t>article</a:t>
            </a:r>
            <a:r>
              <a:rPr lang="es-CO" sz="1600" dirty="0"/>
              <a:t>'},</a:t>
            </a:r>
          </a:p>
          <a:p>
            <a:r>
              <a:rPr lang="es-CO" sz="1600" dirty="0"/>
              <a:t>   {</a:t>
            </a:r>
            <a:r>
              <a:rPr lang="es-CO" sz="1600" dirty="0" err="1"/>
              <a:t>title</a:t>
            </a:r>
            <a:r>
              <a:rPr lang="es-CO" sz="1600" dirty="0"/>
              <a:t>:'</a:t>
            </a:r>
            <a:r>
              <a:rPr lang="es-CO" sz="1600" dirty="0" err="1"/>
              <a:t>Second</a:t>
            </a:r>
            <a:r>
              <a:rPr lang="es-CO" sz="1600" dirty="0"/>
              <a:t> </a:t>
            </a:r>
            <a:r>
              <a:rPr lang="es-CO" sz="1600" dirty="0" err="1"/>
              <a:t>article</a:t>
            </a:r>
            <a:r>
              <a:rPr lang="es-CO" sz="1600" dirty="0"/>
              <a:t>'}</a:t>
            </a:r>
          </a:p>
          <a:p>
            <a:r>
              <a:rPr lang="es-CO" sz="1600" dirty="0"/>
              <a:t>];</a:t>
            </a:r>
          </a:p>
          <a:p>
            <a:r>
              <a:rPr lang="es-CO" sz="1600" dirty="0" err="1"/>
              <a:t>function</a:t>
            </a:r>
            <a:r>
              <a:rPr lang="es-CO" sz="1600" dirty="0"/>
              <a:t> </a:t>
            </a:r>
            <a:r>
              <a:rPr lang="es-CO" sz="1600" dirty="0" err="1"/>
              <a:t>getArticles</a:t>
            </a:r>
            <a:r>
              <a:rPr lang="es-CO" sz="1600" dirty="0"/>
              <a:t>(){</a:t>
            </a:r>
          </a:p>
          <a:p>
            <a:r>
              <a:rPr lang="es-CO" sz="1600" dirty="0"/>
              <a:t>   </a:t>
            </a:r>
            <a:r>
              <a:rPr lang="es-CO" sz="1600" dirty="0" err="1"/>
              <a:t>setTimeout</a:t>
            </a:r>
            <a:r>
              <a:rPr lang="es-CO" sz="1600" dirty="0"/>
              <a:t>(()=&gt;{</a:t>
            </a:r>
          </a:p>
          <a:p>
            <a:r>
              <a:rPr lang="es-CO" sz="1600" dirty="0"/>
              <a:t>      </a:t>
            </a:r>
            <a:r>
              <a:rPr lang="es-CO" sz="1600" dirty="0" err="1"/>
              <a:t>let</a:t>
            </a:r>
            <a:r>
              <a:rPr lang="es-CO" sz="1600" dirty="0"/>
              <a:t> </a:t>
            </a:r>
            <a:r>
              <a:rPr lang="es-CO" sz="1600" dirty="0" err="1"/>
              <a:t>articleContent</a:t>
            </a:r>
            <a:r>
              <a:rPr lang="es-CO" sz="1600" dirty="0"/>
              <a:t>='';</a:t>
            </a:r>
          </a:p>
          <a:p>
            <a:r>
              <a:rPr lang="es-CO" sz="1600" dirty="0"/>
              <a:t>      </a:t>
            </a:r>
            <a:r>
              <a:rPr lang="es-CO" sz="1600" dirty="0" err="1"/>
              <a:t>articles.forEach</a:t>
            </a:r>
            <a:r>
              <a:rPr lang="es-CO" sz="1600" dirty="0"/>
              <a:t>((</a:t>
            </a:r>
            <a:r>
              <a:rPr lang="es-CO" sz="1600" dirty="0" err="1"/>
              <a:t>article,index</a:t>
            </a:r>
            <a:r>
              <a:rPr lang="es-CO" sz="1600" dirty="0"/>
              <a:t>)=&gt;{</a:t>
            </a:r>
          </a:p>
          <a:p>
            <a:r>
              <a:rPr lang="es-CO" sz="1600" dirty="0"/>
              <a:t>         </a:t>
            </a:r>
            <a:r>
              <a:rPr lang="es-CO" sz="1600" dirty="0" err="1"/>
              <a:t>articleContent</a:t>
            </a:r>
            <a:r>
              <a:rPr lang="es-CO" sz="1600" dirty="0"/>
              <a:t>+=`${</a:t>
            </a:r>
            <a:r>
              <a:rPr lang="es-CO" sz="1600" dirty="0" err="1"/>
              <a:t>article.title</a:t>
            </a:r>
            <a:r>
              <a:rPr lang="es-CO" sz="1600" dirty="0"/>
              <a:t>}`+` `;</a:t>
            </a:r>
          </a:p>
          <a:p>
            <a:r>
              <a:rPr lang="es-CO" sz="1600" dirty="0"/>
              <a:t>      });</a:t>
            </a:r>
          </a:p>
          <a:p>
            <a:r>
              <a:rPr lang="es-CO" sz="1600" dirty="0"/>
              <a:t>      console.log(</a:t>
            </a:r>
            <a:r>
              <a:rPr lang="es-CO" sz="1600" dirty="0" err="1"/>
              <a:t>articleContent</a:t>
            </a:r>
            <a:r>
              <a:rPr lang="es-CO" sz="1600" dirty="0"/>
              <a:t>);</a:t>
            </a:r>
          </a:p>
          <a:p>
            <a:r>
              <a:rPr lang="es-CO" sz="1600" dirty="0"/>
              <a:t>   },1000);  </a:t>
            </a:r>
          </a:p>
          <a:p>
            <a:r>
              <a:rPr lang="es-CO" sz="1600" dirty="0"/>
              <a:t>};</a:t>
            </a:r>
          </a:p>
          <a:p>
            <a:r>
              <a:rPr lang="es-CO" sz="1600" dirty="0" err="1"/>
              <a:t>function</a:t>
            </a:r>
            <a:r>
              <a:rPr lang="es-CO" sz="1600" dirty="0"/>
              <a:t> </a:t>
            </a:r>
            <a:r>
              <a:rPr lang="es-CO" sz="1600" dirty="0" err="1"/>
              <a:t>createArticle</a:t>
            </a:r>
            <a:r>
              <a:rPr lang="es-CO" sz="1600" dirty="0"/>
              <a:t>(</a:t>
            </a:r>
            <a:r>
              <a:rPr lang="es-CO" sz="1600" dirty="0" err="1"/>
              <a:t>article</a:t>
            </a:r>
            <a:r>
              <a:rPr lang="es-CO" sz="1600" dirty="0"/>
              <a:t>, </a:t>
            </a:r>
            <a:r>
              <a:rPr lang="es-CO" sz="1600" dirty="0" err="1"/>
              <a:t>callback</a:t>
            </a:r>
            <a:r>
              <a:rPr lang="es-CO" sz="1600" dirty="0"/>
              <a:t>){</a:t>
            </a:r>
          </a:p>
          <a:p>
            <a:r>
              <a:rPr lang="es-CO" sz="1600" dirty="0"/>
              <a:t>   </a:t>
            </a:r>
            <a:r>
              <a:rPr lang="es-CO" sz="1600" dirty="0" err="1"/>
              <a:t>setTimeout</a:t>
            </a:r>
            <a:r>
              <a:rPr lang="es-CO" sz="1600" dirty="0"/>
              <a:t>(()=&gt;{</a:t>
            </a:r>
          </a:p>
          <a:p>
            <a:r>
              <a:rPr lang="es-CO" sz="1600" dirty="0"/>
              <a:t>      </a:t>
            </a:r>
            <a:r>
              <a:rPr lang="es-CO" sz="1600" dirty="0" err="1"/>
              <a:t>articles.push</a:t>
            </a:r>
            <a:r>
              <a:rPr lang="es-CO" sz="1600" dirty="0"/>
              <a:t>(</a:t>
            </a:r>
            <a:r>
              <a:rPr lang="es-CO" sz="1600" dirty="0" err="1"/>
              <a:t>article</a:t>
            </a:r>
            <a:r>
              <a:rPr lang="es-CO" sz="1600" dirty="0"/>
              <a:t>);</a:t>
            </a:r>
          </a:p>
          <a:p>
            <a:r>
              <a:rPr lang="es-CO" sz="1600" dirty="0"/>
              <a:t>      </a:t>
            </a:r>
            <a:r>
              <a:rPr lang="es-CO" sz="1600" dirty="0" err="1"/>
              <a:t>callback</a:t>
            </a:r>
            <a:r>
              <a:rPr lang="es-CO" sz="1600" dirty="0"/>
              <a:t>();</a:t>
            </a:r>
          </a:p>
          <a:p>
            <a:r>
              <a:rPr lang="es-CO" sz="1600" dirty="0"/>
              <a:t>   },2000);</a:t>
            </a:r>
          </a:p>
          <a:p>
            <a:r>
              <a:rPr lang="es-CO" sz="1600" dirty="0"/>
              <a:t>}</a:t>
            </a:r>
          </a:p>
          <a:p>
            <a:r>
              <a:rPr lang="es-CO" sz="1600" dirty="0" err="1"/>
              <a:t>createArticle</a:t>
            </a:r>
            <a:r>
              <a:rPr lang="es-CO" sz="1600" dirty="0"/>
              <a:t>({</a:t>
            </a:r>
            <a:r>
              <a:rPr lang="es-CO" sz="1600" dirty="0" err="1"/>
              <a:t>title</a:t>
            </a:r>
            <a:r>
              <a:rPr lang="es-CO" sz="1600" dirty="0"/>
              <a:t>:'</a:t>
            </a:r>
            <a:r>
              <a:rPr lang="es-CO" sz="1600" dirty="0" err="1"/>
              <a:t>Third</a:t>
            </a:r>
            <a:r>
              <a:rPr lang="es-CO" sz="1600" dirty="0"/>
              <a:t> </a:t>
            </a:r>
            <a:r>
              <a:rPr lang="es-CO" sz="1600" dirty="0" err="1"/>
              <a:t>article</a:t>
            </a:r>
            <a:r>
              <a:rPr lang="es-CO" sz="1600" dirty="0"/>
              <a:t>'},</a:t>
            </a:r>
            <a:r>
              <a:rPr lang="es-CO" sz="1600" dirty="0" err="1"/>
              <a:t>getArticles</a:t>
            </a:r>
            <a:r>
              <a:rPr lang="es-CO" sz="1600" dirty="0"/>
              <a:t>);</a:t>
            </a:r>
          </a:p>
        </p:txBody>
      </p:sp>
      <p:sp>
        <p:nvSpPr>
          <p:cNvPr id="5" name="Rectángulo 4"/>
          <p:cNvSpPr/>
          <p:nvPr/>
        </p:nvSpPr>
        <p:spPr>
          <a:xfrm>
            <a:off x="5516880" y="2736503"/>
            <a:ext cx="6096000" cy="1754326"/>
          </a:xfrm>
          <a:prstGeom prst="rect">
            <a:avLst/>
          </a:prstGeom>
        </p:spPr>
        <p:txBody>
          <a:bodyPr>
            <a:spAutoFit/>
          </a:bodyPr>
          <a:lstStyle/>
          <a:p>
            <a:r>
              <a:rPr lang="es-ES" dirty="0"/>
              <a:t>Hemos anidado la llamada de </a:t>
            </a:r>
            <a:r>
              <a:rPr lang="es-ES" dirty="0" err="1"/>
              <a:t>getArticle</a:t>
            </a:r>
            <a:r>
              <a:rPr lang="es-ES" dirty="0"/>
              <a:t> dentro de </a:t>
            </a:r>
            <a:r>
              <a:rPr lang="es-ES" dirty="0" err="1"/>
              <a:t>createArticle</a:t>
            </a:r>
            <a:r>
              <a:rPr lang="es-ES" dirty="0"/>
              <a:t> usando </a:t>
            </a:r>
            <a:r>
              <a:rPr lang="es-ES" dirty="0" err="1"/>
              <a:t>callback</a:t>
            </a:r>
            <a:r>
              <a:rPr lang="es-ES" dirty="0"/>
              <a:t>.</a:t>
            </a:r>
          </a:p>
          <a:p>
            <a:endParaRPr lang="es-ES" dirty="0"/>
          </a:p>
          <a:p>
            <a:r>
              <a:rPr lang="es-ES" dirty="0"/>
              <a:t>Tenga en cuenta el paso de </a:t>
            </a:r>
            <a:r>
              <a:rPr lang="es-ES" dirty="0" err="1"/>
              <a:t>getArticles</a:t>
            </a:r>
            <a:r>
              <a:rPr lang="es-ES" dirty="0"/>
              <a:t> como argumento a la función </a:t>
            </a:r>
            <a:r>
              <a:rPr lang="es-ES" dirty="0" err="1"/>
              <a:t>createArticle</a:t>
            </a:r>
            <a:r>
              <a:rPr lang="es-ES" dirty="0"/>
              <a:t>. Pero de esta manera, se complica anidar las devoluciones de llamada</a:t>
            </a:r>
            <a:endParaRPr lang="es-CO" dirty="0"/>
          </a:p>
        </p:txBody>
      </p:sp>
    </p:spTree>
    <p:extLst>
      <p:ext uri="{BB962C8B-B14F-4D97-AF65-F5344CB8AC3E}">
        <p14:creationId xmlns:p14="http://schemas.microsoft.com/office/powerpoint/2010/main" val="173631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Promesas</a:t>
            </a:r>
            <a:endParaRPr spc="-42" dirty="0">
              <a:solidFill>
                <a:srgbClr val="FFF5EA"/>
              </a:solidFill>
              <a:latin typeface="Georgia"/>
              <a:cs typeface="Georgia"/>
            </a:endParaRPr>
          </a:p>
        </p:txBody>
      </p:sp>
      <p:sp>
        <p:nvSpPr>
          <p:cNvPr id="3" name="Rectángulo 2"/>
          <p:cNvSpPr/>
          <p:nvPr/>
        </p:nvSpPr>
        <p:spPr>
          <a:xfrm>
            <a:off x="618033" y="1716316"/>
            <a:ext cx="6096000" cy="1200329"/>
          </a:xfrm>
          <a:prstGeom prst="rect">
            <a:avLst/>
          </a:prstGeom>
        </p:spPr>
        <p:txBody>
          <a:bodyPr>
            <a:spAutoFit/>
          </a:bodyPr>
          <a:lstStyle/>
          <a:p>
            <a:r>
              <a:rPr lang="es-ES" dirty="0"/>
              <a:t>Con el uso de promesas, no es necesario pasar la función de devolución de llamada. Las promesas tienen dos argumentos: se resuelven y se rechazan. Si la función se ejecuta con éxito, podemos llamar a </a:t>
            </a:r>
            <a:r>
              <a:rPr lang="es-ES" dirty="0" err="1"/>
              <a:t>resolve</a:t>
            </a:r>
            <a:r>
              <a:rPr lang="es-ES" dirty="0"/>
              <a:t>(), o llamamos a </a:t>
            </a:r>
            <a:r>
              <a:rPr lang="es-ES" dirty="0" err="1"/>
              <a:t>reject</a:t>
            </a:r>
            <a:r>
              <a:rPr lang="es-ES" dirty="0"/>
              <a:t>()</a:t>
            </a:r>
            <a:endParaRPr lang="es-CO" dirty="0"/>
          </a:p>
        </p:txBody>
      </p:sp>
      <p:pic>
        <p:nvPicPr>
          <p:cNvPr id="7" name="Imagen 6"/>
          <p:cNvPicPr>
            <a:picLocks noChangeAspect="1"/>
          </p:cNvPicPr>
          <p:nvPr/>
        </p:nvPicPr>
        <p:blipFill>
          <a:blip r:embed="rId3"/>
          <a:stretch>
            <a:fillRect/>
          </a:stretch>
        </p:blipFill>
        <p:spPr>
          <a:xfrm>
            <a:off x="7213282" y="1716316"/>
            <a:ext cx="4257675" cy="4841646"/>
          </a:xfrm>
          <a:prstGeom prst="rect">
            <a:avLst/>
          </a:prstGeom>
        </p:spPr>
      </p:pic>
      <p:sp>
        <p:nvSpPr>
          <p:cNvPr id="9" name="Rectángulo 8"/>
          <p:cNvSpPr/>
          <p:nvPr/>
        </p:nvSpPr>
        <p:spPr>
          <a:xfrm>
            <a:off x="618033" y="3429000"/>
            <a:ext cx="6096000" cy="2031325"/>
          </a:xfrm>
          <a:prstGeom prst="rect">
            <a:avLst/>
          </a:prstGeom>
        </p:spPr>
        <p:txBody>
          <a:bodyPr>
            <a:spAutoFit/>
          </a:bodyPr>
          <a:lstStyle/>
          <a:p>
            <a:r>
              <a:rPr lang="es-ES" b="1" dirty="0"/>
              <a:t>Pendiente: </a:t>
            </a:r>
            <a:r>
              <a:rPr lang="es-ES" dirty="0"/>
              <a:t>Esta es la etapa inicial. Aquí no pasa nada. Piensa en ello de esta manera, tu cliente se está tomando su tiempo para darte un pedido. Pero aún no han pedido nada.</a:t>
            </a:r>
          </a:p>
          <a:p>
            <a:r>
              <a:rPr lang="es-ES" b="1" dirty="0"/>
              <a:t>Resuelto: </a:t>
            </a:r>
            <a:r>
              <a:rPr lang="es-ES" dirty="0"/>
              <a:t>Esto significa que su cliente ha recibido su comida y está feliz.</a:t>
            </a:r>
          </a:p>
          <a:p>
            <a:r>
              <a:rPr lang="es-ES" b="1" dirty="0"/>
              <a:t>Rechazado: </a:t>
            </a:r>
            <a:r>
              <a:rPr lang="es-ES" dirty="0"/>
              <a:t>Esto significa que su cliente no recibió su pedido y abandonó el restaurante.</a:t>
            </a:r>
            <a:endParaRPr lang="es-CO" dirty="0"/>
          </a:p>
        </p:txBody>
      </p:sp>
    </p:spTree>
    <p:extLst>
      <p:ext uri="{BB962C8B-B14F-4D97-AF65-F5344CB8AC3E}">
        <p14:creationId xmlns:p14="http://schemas.microsoft.com/office/powerpoint/2010/main" val="3946398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Promesas</a:t>
            </a:r>
            <a:endParaRPr spc="-42" dirty="0">
              <a:solidFill>
                <a:srgbClr val="FFF5EA"/>
              </a:solidFill>
              <a:latin typeface="Georgia"/>
              <a:cs typeface="Georgia"/>
            </a:endParaRPr>
          </a:p>
        </p:txBody>
      </p:sp>
      <p:sp>
        <p:nvSpPr>
          <p:cNvPr id="2" name="Rectángulo 1"/>
          <p:cNvSpPr/>
          <p:nvPr/>
        </p:nvSpPr>
        <p:spPr>
          <a:xfrm>
            <a:off x="729933" y="1514691"/>
            <a:ext cx="6096000" cy="5109091"/>
          </a:xfrm>
          <a:prstGeom prst="rect">
            <a:avLst/>
          </a:prstGeom>
        </p:spPr>
        <p:txBody>
          <a:bodyPr>
            <a:spAutoFit/>
          </a:bodyPr>
          <a:lstStyle/>
          <a:p>
            <a:r>
              <a:rPr lang="es-CO" sz="1200" dirty="0" err="1"/>
              <a:t>const</a:t>
            </a:r>
            <a:r>
              <a:rPr lang="es-CO" sz="1200" dirty="0"/>
              <a:t> </a:t>
            </a:r>
            <a:r>
              <a:rPr lang="es-CO" sz="1200" dirty="0" err="1"/>
              <a:t>articles</a:t>
            </a:r>
            <a:r>
              <a:rPr lang="es-CO" sz="1200" dirty="0"/>
              <a:t> = [</a:t>
            </a:r>
          </a:p>
          <a:p>
            <a:r>
              <a:rPr lang="es-CO" sz="1200" dirty="0"/>
              <a:t>    {</a:t>
            </a:r>
            <a:r>
              <a:rPr lang="es-CO" sz="1200" dirty="0" err="1"/>
              <a:t>title</a:t>
            </a:r>
            <a:r>
              <a:rPr lang="es-CO" sz="1200" dirty="0"/>
              <a:t>:'</a:t>
            </a:r>
            <a:r>
              <a:rPr lang="es-CO" sz="1200" dirty="0" err="1"/>
              <a:t>First</a:t>
            </a:r>
            <a:r>
              <a:rPr lang="es-CO" sz="1200" dirty="0"/>
              <a:t> </a:t>
            </a:r>
            <a:r>
              <a:rPr lang="es-CO" sz="1200" dirty="0" err="1"/>
              <a:t>article</a:t>
            </a:r>
            <a:r>
              <a:rPr lang="es-CO" sz="1200" dirty="0"/>
              <a:t>'},</a:t>
            </a:r>
          </a:p>
          <a:p>
            <a:r>
              <a:rPr lang="es-CO" sz="1200" dirty="0"/>
              <a:t>    {</a:t>
            </a:r>
            <a:r>
              <a:rPr lang="es-CO" sz="1200" dirty="0" err="1"/>
              <a:t>title</a:t>
            </a:r>
            <a:r>
              <a:rPr lang="es-CO" sz="1200" dirty="0"/>
              <a:t>:'</a:t>
            </a:r>
            <a:r>
              <a:rPr lang="es-CO" sz="1200" dirty="0" err="1"/>
              <a:t>Second</a:t>
            </a:r>
            <a:r>
              <a:rPr lang="es-CO" sz="1200" dirty="0"/>
              <a:t> </a:t>
            </a:r>
            <a:r>
              <a:rPr lang="es-CO" sz="1200" dirty="0" err="1"/>
              <a:t>article</a:t>
            </a:r>
            <a:r>
              <a:rPr lang="es-CO" sz="1200" dirty="0"/>
              <a:t>'}</a:t>
            </a:r>
          </a:p>
          <a:p>
            <a:r>
              <a:rPr lang="es-CO" sz="1200" dirty="0"/>
              <a:t> ];</a:t>
            </a:r>
          </a:p>
          <a:p>
            <a:r>
              <a:rPr lang="es-CO" sz="1200" dirty="0"/>
              <a:t> </a:t>
            </a:r>
            <a:r>
              <a:rPr lang="es-CO" sz="1200" dirty="0" err="1"/>
              <a:t>function</a:t>
            </a:r>
            <a:r>
              <a:rPr lang="es-CO" sz="1200" dirty="0"/>
              <a:t> </a:t>
            </a:r>
            <a:r>
              <a:rPr lang="es-CO" sz="1200" dirty="0" err="1"/>
              <a:t>getArticles</a:t>
            </a:r>
            <a:r>
              <a:rPr lang="es-CO" sz="1200" dirty="0"/>
              <a:t>(){</a:t>
            </a:r>
          </a:p>
          <a:p>
            <a:r>
              <a:rPr lang="es-CO" sz="1200" dirty="0"/>
              <a:t>    </a:t>
            </a:r>
            <a:r>
              <a:rPr lang="es-CO" sz="1200" dirty="0" err="1"/>
              <a:t>setTimeout</a:t>
            </a:r>
            <a:r>
              <a:rPr lang="es-CO" sz="1200" dirty="0"/>
              <a:t>(()=&gt;{</a:t>
            </a:r>
          </a:p>
          <a:p>
            <a:r>
              <a:rPr lang="es-CO" sz="1200" dirty="0"/>
              <a:t>       </a:t>
            </a:r>
            <a:r>
              <a:rPr lang="es-CO" sz="1200" dirty="0" err="1"/>
              <a:t>let</a:t>
            </a:r>
            <a:r>
              <a:rPr lang="es-CO" sz="1200" dirty="0"/>
              <a:t> </a:t>
            </a:r>
            <a:r>
              <a:rPr lang="es-CO" sz="1200" dirty="0" err="1"/>
              <a:t>articleContent</a:t>
            </a:r>
            <a:r>
              <a:rPr lang="es-CO" sz="1200" dirty="0"/>
              <a:t>='';</a:t>
            </a:r>
          </a:p>
          <a:p>
            <a:r>
              <a:rPr lang="es-CO" sz="1200" dirty="0"/>
              <a:t>       </a:t>
            </a:r>
            <a:r>
              <a:rPr lang="es-CO" sz="1200" dirty="0" err="1"/>
              <a:t>articles.forEach</a:t>
            </a:r>
            <a:r>
              <a:rPr lang="es-CO" sz="1200" dirty="0"/>
              <a:t>((</a:t>
            </a:r>
            <a:r>
              <a:rPr lang="es-CO" sz="1200" dirty="0" err="1"/>
              <a:t>article,index</a:t>
            </a:r>
            <a:r>
              <a:rPr lang="es-CO" sz="1200" dirty="0"/>
              <a:t>)=&gt;{</a:t>
            </a:r>
          </a:p>
          <a:p>
            <a:r>
              <a:rPr lang="es-CO" sz="1200" dirty="0"/>
              <a:t>          </a:t>
            </a:r>
            <a:r>
              <a:rPr lang="es-CO" sz="1200" dirty="0" err="1"/>
              <a:t>articleContent</a:t>
            </a:r>
            <a:r>
              <a:rPr lang="es-CO" sz="1200" dirty="0"/>
              <a:t>+=`${</a:t>
            </a:r>
            <a:r>
              <a:rPr lang="es-CO" sz="1200" dirty="0" err="1"/>
              <a:t>article.title</a:t>
            </a:r>
            <a:r>
              <a:rPr lang="es-CO" sz="1200" dirty="0"/>
              <a:t>}`+` `;</a:t>
            </a:r>
          </a:p>
          <a:p>
            <a:r>
              <a:rPr lang="es-CO" sz="1200" dirty="0"/>
              <a:t>       });</a:t>
            </a:r>
          </a:p>
          <a:p>
            <a:r>
              <a:rPr lang="es-CO" sz="1200" dirty="0"/>
              <a:t>       console.log(</a:t>
            </a:r>
            <a:r>
              <a:rPr lang="es-CO" sz="1200" dirty="0" err="1"/>
              <a:t>articleContent</a:t>
            </a:r>
            <a:r>
              <a:rPr lang="es-CO" sz="1200" dirty="0"/>
              <a:t>);</a:t>
            </a:r>
          </a:p>
          <a:p>
            <a:r>
              <a:rPr lang="es-CO" sz="1200" dirty="0"/>
              <a:t>    },1000);</a:t>
            </a:r>
          </a:p>
          <a:p>
            <a:r>
              <a:rPr lang="es-CO" sz="1200" dirty="0"/>
              <a:t> };</a:t>
            </a:r>
          </a:p>
          <a:p>
            <a:r>
              <a:rPr lang="es-CO" sz="1200" dirty="0"/>
              <a:t> </a:t>
            </a:r>
            <a:r>
              <a:rPr lang="es-CO" sz="1200" dirty="0" err="1"/>
              <a:t>function</a:t>
            </a:r>
            <a:r>
              <a:rPr lang="es-CO" sz="1200" dirty="0"/>
              <a:t> </a:t>
            </a:r>
            <a:r>
              <a:rPr lang="es-CO" sz="1200" dirty="0" err="1"/>
              <a:t>createArticle</a:t>
            </a:r>
            <a:r>
              <a:rPr lang="es-CO" sz="1200" dirty="0"/>
              <a:t>(</a:t>
            </a:r>
            <a:r>
              <a:rPr lang="es-CO" sz="1200" dirty="0" err="1"/>
              <a:t>article</a:t>
            </a:r>
            <a:r>
              <a:rPr lang="es-CO" sz="1200" dirty="0"/>
              <a:t>){</a:t>
            </a:r>
          </a:p>
          <a:p>
            <a:r>
              <a:rPr lang="es-CO" sz="1200" dirty="0"/>
              <a:t>    </a:t>
            </a:r>
            <a:r>
              <a:rPr lang="es-CO" sz="1200" dirty="0" err="1"/>
              <a:t>return</a:t>
            </a:r>
            <a:r>
              <a:rPr lang="es-CO" sz="1200" dirty="0"/>
              <a:t> new </a:t>
            </a:r>
            <a:r>
              <a:rPr lang="es-CO" sz="1200" dirty="0" err="1"/>
              <a:t>Promise</a:t>
            </a:r>
            <a:r>
              <a:rPr lang="es-CO" sz="1200" dirty="0"/>
              <a:t>((</a:t>
            </a:r>
            <a:r>
              <a:rPr lang="es-CO" sz="1200" dirty="0" err="1"/>
              <a:t>resolve,reject</a:t>
            </a:r>
            <a:r>
              <a:rPr lang="es-CO" sz="1200" dirty="0"/>
              <a:t>)=&gt;{</a:t>
            </a:r>
          </a:p>
          <a:p>
            <a:r>
              <a:rPr lang="es-CO" sz="1200" dirty="0"/>
              <a:t>       </a:t>
            </a:r>
            <a:r>
              <a:rPr lang="es-CO" sz="1200" dirty="0" err="1"/>
              <a:t>articles.push</a:t>
            </a:r>
            <a:r>
              <a:rPr lang="es-CO" sz="1200" dirty="0"/>
              <a:t>(</a:t>
            </a:r>
            <a:r>
              <a:rPr lang="es-CO" sz="1200" dirty="0" err="1"/>
              <a:t>article</a:t>
            </a:r>
            <a:r>
              <a:rPr lang="es-CO" sz="1200" dirty="0"/>
              <a:t>);</a:t>
            </a:r>
          </a:p>
          <a:p>
            <a:r>
              <a:rPr lang="es-CO" sz="1200" dirty="0"/>
              <a:t>       </a:t>
            </a:r>
            <a:r>
              <a:rPr lang="es-CO" sz="1200" dirty="0" err="1"/>
              <a:t>let</a:t>
            </a:r>
            <a:r>
              <a:rPr lang="es-CO" sz="1200" dirty="0"/>
              <a:t> </a:t>
            </a:r>
            <a:r>
              <a:rPr lang="es-CO" sz="1200" dirty="0" err="1"/>
              <a:t>isError</a:t>
            </a:r>
            <a:r>
              <a:rPr lang="es-CO" sz="1200" dirty="0"/>
              <a:t>=true;</a:t>
            </a:r>
          </a:p>
          <a:p>
            <a:r>
              <a:rPr lang="es-CO" sz="1200" dirty="0"/>
              <a:t>       </a:t>
            </a:r>
            <a:r>
              <a:rPr lang="es-CO" sz="1200" dirty="0" err="1"/>
              <a:t>if</a:t>
            </a:r>
            <a:r>
              <a:rPr lang="es-CO" sz="1200" dirty="0"/>
              <a:t>(!</a:t>
            </a:r>
            <a:r>
              <a:rPr lang="es-CO" sz="1200" dirty="0" err="1"/>
              <a:t>isError</a:t>
            </a:r>
            <a:r>
              <a:rPr lang="es-CO" sz="1200" dirty="0"/>
              <a:t>){</a:t>
            </a:r>
          </a:p>
          <a:p>
            <a:r>
              <a:rPr lang="es-CO" sz="1200" dirty="0"/>
              <a:t>          </a:t>
            </a:r>
            <a:r>
              <a:rPr lang="es-CO" sz="1200" dirty="0" err="1"/>
              <a:t>resolve</a:t>
            </a:r>
            <a:r>
              <a:rPr lang="es-CO" sz="1200" dirty="0"/>
              <a:t>('Promesa exitosa');</a:t>
            </a:r>
          </a:p>
          <a:p>
            <a:r>
              <a:rPr lang="es-CO" sz="1200" dirty="0"/>
              <a:t>       } </a:t>
            </a:r>
            <a:r>
              <a:rPr lang="es-CO" sz="1200" dirty="0" err="1"/>
              <a:t>else</a:t>
            </a:r>
            <a:r>
              <a:rPr lang="es-CO" sz="1200" dirty="0"/>
              <a:t> {</a:t>
            </a:r>
          </a:p>
          <a:p>
            <a:r>
              <a:rPr lang="es-CO" sz="1200" dirty="0"/>
              <a:t>          </a:t>
            </a:r>
            <a:r>
              <a:rPr lang="es-CO" sz="1200" dirty="0" err="1"/>
              <a:t>reject</a:t>
            </a:r>
            <a:r>
              <a:rPr lang="es-CO" sz="1200" dirty="0"/>
              <a:t>('Hubo un error, no se </a:t>
            </a:r>
            <a:r>
              <a:rPr lang="es-CO" sz="1200" dirty="0" err="1"/>
              <a:t>cumplio</a:t>
            </a:r>
            <a:r>
              <a:rPr lang="es-CO" sz="1200" dirty="0"/>
              <a:t> la promesa');</a:t>
            </a:r>
          </a:p>
          <a:p>
            <a:r>
              <a:rPr lang="es-CO" sz="1200" dirty="0"/>
              <a:t>       }</a:t>
            </a:r>
          </a:p>
          <a:p>
            <a:r>
              <a:rPr lang="es-CO" sz="1200" dirty="0"/>
              <a:t>    });</a:t>
            </a:r>
          </a:p>
          <a:p>
            <a:r>
              <a:rPr lang="es-CO" sz="1200" dirty="0"/>
              <a:t> }</a:t>
            </a:r>
          </a:p>
          <a:p>
            <a:r>
              <a:rPr lang="es-CO" sz="1200" dirty="0"/>
              <a:t> </a:t>
            </a:r>
            <a:r>
              <a:rPr lang="es-CO" sz="1200" dirty="0" err="1"/>
              <a:t>createArticle</a:t>
            </a:r>
            <a:r>
              <a:rPr lang="es-CO" sz="1200" dirty="0"/>
              <a:t>({</a:t>
            </a:r>
            <a:r>
              <a:rPr lang="es-CO" sz="1200" dirty="0" err="1"/>
              <a:t>title</a:t>
            </a:r>
            <a:r>
              <a:rPr lang="es-CO" sz="1200" dirty="0"/>
              <a:t>:'</a:t>
            </a:r>
            <a:r>
              <a:rPr lang="es-CO" sz="1200" dirty="0" err="1"/>
              <a:t>Third</a:t>
            </a:r>
            <a:r>
              <a:rPr lang="es-CO" sz="1200" dirty="0"/>
              <a:t> </a:t>
            </a:r>
            <a:r>
              <a:rPr lang="es-CO" sz="1200" dirty="0" err="1"/>
              <a:t>article</a:t>
            </a:r>
            <a:r>
              <a:rPr lang="es-CO" sz="1200" dirty="0"/>
              <a:t>'})</a:t>
            </a:r>
          </a:p>
          <a:p>
            <a:r>
              <a:rPr lang="es-CO" sz="1200" dirty="0"/>
              <a:t> .</a:t>
            </a:r>
            <a:r>
              <a:rPr lang="es-CO" sz="1200" dirty="0" err="1"/>
              <a:t>then</a:t>
            </a:r>
            <a:r>
              <a:rPr lang="es-CO" sz="1200" dirty="0"/>
              <a:t>(</a:t>
            </a:r>
            <a:r>
              <a:rPr lang="es-CO" sz="1200" dirty="0" err="1"/>
              <a:t>getArticles</a:t>
            </a:r>
            <a:r>
              <a:rPr lang="es-CO" sz="1200" dirty="0"/>
              <a:t>());</a:t>
            </a:r>
          </a:p>
          <a:p>
            <a:endParaRPr lang="es-CO" sz="1400" dirty="0"/>
          </a:p>
        </p:txBody>
      </p:sp>
      <p:pic>
        <p:nvPicPr>
          <p:cNvPr id="5" name="Imagen 4"/>
          <p:cNvPicPr>
            <a:picLocks noChangeAspect="1"/>
          </p:cNvPicPr>
          <p:nvPr/>
        </p:nvPicPr>
        <p:blipFill>
          <a:blip r:embed="rId3"/>
          <a:stretch>
            <a:fillRect/>
          </a:stretch>
        </p:blipFill>
        <p:spPr>
          <a:xfrm>
            <a:off x="3413760" y="1872853"/>
            <a:ext cx="8641080" cy="1371481"/>
          </a:xfrm>
          <a:prstGeom prst="rect">
            <a:avLst/>
          </a:prstGeom>
        </p:spPr>
      </p:pic>
      <p:pic>
        <p:nvPicPr>
          <p:cNvPr id="6" name="Imagen 5"/>
          <p:cNvPicPr>
            <a:picLocks noChangeAspect="1"/>
          </p:cNvPicPr>
          <p:nvPr/>
        </p:nvPicPr>
        <p:blipFill>
          <a:blip r:embed="rId4"/>
          <a:stretch>
            <a:fillRect/>
          </a:stretch>
        </p:blipFill>
        <p:spPr>
          <a:xfrm>
            <a:off x="4412933" y="4366249"/>
            <a:ext cx="7337108" cy="1504950"/>
          </a:xfrm>
          <a:prstGeom prst="rect">
            <a:avLst/>
          </a:prstGeom>
        </p:spPr>
      </p:pic>
    </p:spTree>
    <p:extLst>
      <p:ext uri="{BB962C8B-B14F-4D97-AF65-F5344CB8AC3E}">
        <p14:creationId xmlns:p14="http://schemas.microsoft.com/office/powerpoint/2010/main" val="2209362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Promesas</a:t>
            </a:r>
            <a:endParaRPr spc="-42" dirty="0">
              <a:solidFill>
                <a:srgbClr val="FFF5EA"/>
              </a:solidFill>
              <a:latin typeface="Georgia"/>
              <a:cs typeface="Georgia"/>
            </a:endParaRPr>
          </a:p>
        </p:txBody>
      </p:sp>
      <p:sp>
        <p:nvSpPr>
          <p:cNvPr id="2" name="Rectángulo 1"/>
          <p:cNvSpPr/>
          <p:nvPr/>
        </p:nvSpPr>
        <p:spPr>
          <a:xfrm>
            <a:off x="729933" y="1514691"/>
            <a:ext cx="6096000" cy="5109091"/>
          </a:xfrm>
          <a:prstGeom prst="rect">
            <a:avLst/>
          </a:prstGeom>
        </p:spPr>
        <p:txBody>
          <a:bodyPr>
            <a:spAutoFit/>
          </a:bodyPr>
          <a:lstStyle/>
          <a:p>
            <a:r>
              <a:rPr lang="es-CO" sz="1200" dirty="0" err="1"/>
              <a:t>const</a:t>
            </a:r>
            <a:r>
              <a:rPr lang="es-CO" sz="1200" dirty="0"/>
              <a:t> </a:t>
            </a:r>
            <a:r>
              <a:rPr lang="es-CO" sz="1200" dirty="0" err="1"/>
              <a:t>articles</a:t>
            </a:r>
            <a:r>
              <a:rPr lang="es-CO" sz="1200" dirty="0"/>
              <a:t> = [</a:t>
            </a:r>
          </a:p>
          <a:p>
            <a:r>
              <a:rPr lang="es-CO" sz="1200" dirty="0"/>
              <a:t>    {</a:t>
            </a:r>
            <a:r>
              <a:rPr lang="es-CO" sz="1200" dirty="0" err="1"/>
              <a:t>title</a:t>
            </a:r>
            <a:r>
              <a:rPr lang="es-CO" sz="1200" dirty="0"/>
              <a:t>:'</a:t>
            </a:r>
            <a:r>
              <a:rPr lang="es-CO" sz="1200" dirty="0" err="1"/>
              <a:t>First</a:t>
            </a:r>
            <a:r>
              <a:rPr lang="es-CO" sz="1200" dirty="0"/>
              <a:t> </a:t>
            </a:r>
            <a:r>
              <a:rPr lang="es-CO" sz="1200" dirty="0" err="1"/>
              <a:t>article</a:t>
            </a:r>
            <a:r>
              <a:rPr lang="es-CO" sz="1200" dirty="0"/>
              <a:t>'},</a:t>
            </a:r>
          </a:p>
          <a:p>
            <a:r>
              <a:rPr lang="es-CO" sz="1200" dirty="0"/>
              <a:t>    {</a:t>
            </a:r>
            <a:r>
              <a:rPr lang="es-CO" sz="1200" dirty="0" err="1"/>
              <a:t>title</a:t>
            </a:r>
            <a:r>
              <a:rPr lang="es-CO" sz="1200" dirty="0"/>
              <a:t>:'</a:t>
            </a:r>
            <a:r>
              <a:rPr lang="es-CO" sz="1200" dirty="0" err="1"/>
              <a:t>Second</a:t>
            </a:r>
            <a:r>
              <a:rPr lang="es-CO" sz="1200" dirty="0"/>
              <a:t> </a:t>
            </a:r>
            <a:r>
              <a:rPr lang="es-CO" sz="1200" dirty="0" err="1"/>
              <a:t>article</a:t>
            </a:r>
            <a:r>
              <a:rPr lang="es-CO" sz="1200" dirty="0"/>
              <a:t>'}</a:t>
            </a:r>
          </a:p>
          <a:p>
            <a:r>
              <a:rPr lang="es-CO" sz="1200" dirty="0"/>
              <a:t> ];</a:t>
            </a:r>
          </a:p>
          <a:p>
            <a:r>
              <a:rPr lang="es-CO" sz="1200" dirty="0"/>
              <a:t> </a:t>
            </a:r>
            <a:r>
              <a:rPr lang="es-CO" sz="1200" dirty="0" err="1"/>
              <a:t>function</a:t>
            </a:r>
            <a:r>
              <a:rPr lang="es-CO" sz="1200" dirty="0"/>
              <a:t> </a:t>
            </a:r>
            <a:r>
              <a:rPr lang="es-CO" sz="1200" dirty="0" err="1"/>
              <a:t>getArticles</a:t>
            </a:r>
            <a:r>
              <a:rPr lang="es-CO" sz="1200" dirty="0"/>
              <a:t>(){</a:t>
            </a:r>
          </a:p>
          <a:p>
            <a:r>
              <a:rPr lang="es-CO" sz="1200" dirty="0"/>
              <a:t>    </a:t>
            </a:r>
            <a:r>
              <a:rPr lang="es-CO" sz="1200" dirty="0" err="1"/>
              <a:t>setTimeout</a:t>
            </a:r>
            <a:r>
              <a:rPr lang="es-CO" sz="1200" dirty="0"/>
              <a:t>(()=&gt;{</a:t>
            </a:r>
          </a:p>
          <a:p>
            <a:r>
              <a:rPr lang="es-CO" sz="1200" dirty="0"/>
              <a:t>       </a:t>
            </a:r>
            <a:r>
              <a:rPr lang="es-CO" sz="1200" dirty="0" err="1"/>
              <a:t>let</a:t>
            </a:r>
            <a:r>
              <a:rPr lang="es-CO" sz="1200" dirty="0"/>
              <a:t> </a:t>
            </a:r>
            <a:r>
              <a:rPr lang="es-CO" sz="1200" dirty="0" err="1"/>
              <a:t>articleContent</a:t>
            </a:r>
            <a:r>
              <a:rPr lang="es-CO" sz="1200" dirty="0"/>
              <a:t>='';</a:t>
            </a:r>
          </a:p>
          <a:p>
            <a:r>
              <a:rPr lang="es-CO" sz="1200" dirty="0"/>
              <a:t>       </a:t>
            </a:r>
            <a:r>
              <a:rPr lang="es-CO" sz="1200" dirty="0" err="1"/>
              <a:t>articles.forEach</a:t>
            </a:r>
            <a:r>
              <a:rPr lang="es-CO" sz="1200" dirty="0"/>
              <a:t>((</a:t>
            </a:r>
            <a:r>
              <a:rPr lang="es-CO" sz="1200" dirty="0" err="1"/>
              <a:t>article,index</a:t>
            </a:r>
            <a:r>
              <a:rPr lang="es-CO" sz="1200" dirty="0"/>
              <a:t>)=&gt;{</a:t>
            </a:r>
          </a:p>
          <a:p>
            <a:r>
              <a:rPr lang="es-CO" sz="1200" dirty="0"/>
              <a:t>          </a:t>
            </a:r>
            <a:r>
              <a:rPr lang="es-CO" sz="1200" dirty="0" err="1"/>
              <a:t>articleContent</a:t>
            </a:r>
            <a:r>
              <a:rPr lang="es-CO" sz="1200" dirty="0"/>
              <a:t>+=`${</a:t>
            </a:r>
            <a:r>
              <a:rPr lang="es-CO" sz="1200" dirty="0" err="1"/>
              <a:t>article.title</a:t>
            </a:r>
            <a:r>
              <a:rPr lang="es-CO" sz="1200" dirty="0"/>
              <a:t>}`+` `;</a:t>
            </a:r>
          </a:p>
          <a:p>
            <a:r>
              <a:rPr lang="es-CO" sz="1200" dirty="0"/>
              <a:t>       });</a:t>
            </a:r>
          </a:p>
          <a:p>
            <a:r>
              <a:rPr lang="es-CO" sz="1200" dirty="0"/>
              <a:t>       console.log(</a:t>
            </a:r>
            <a:r>
              <a:rPr lang="es-CO" sz="1200" dirty="0" err="1"/>
              <a:t>articleContent</a:t>
            </a:r>
            <a:r>
              <a:rPr lang="es-CO" sz="1200" dirty="0"/>
              <a:t>);</a:t>
            </a:r>
          </a:p>
          <a:p>
            <a:r>
              <a:rPr lang="es-CO" sz="1200" dirty="0"/>
              <a:t>    },1000);</a:t>
            </a:r>
          </a:p>
          <a:p>
            <a:r>
              <a:rPr lang="es-CO" sz="1200" dirty="0"/>
              <a:t> };</a:t>
            </a:r>
          </a:p>
          <a:p>
            <a:r>
              <a:rPr lang="es-CO" sz="1200" dirty="0"/>
              <a:t> </a:t>
            </a:r>
            <a:r>
              <a:rPr lang="es-CO" sz="1200" dirty="0" err="1"/>
              <a:t>function</a:t>
            </a:r>
            <a:r>
              <a:rPr lang="es-CO" sz="1200" dirty="0"/>
              <a:t> </a:t>
            </a:r>
            <a:r>
              <a:rPr lang="es-CO" sz="1200" dirty="0" err="1"/>
              <a:t>createArticle</a:t>
            </a:r>
            <a:r>
              <a:rPr lang="es-CO" sz="1200" dirty="0"/>
              <a:t>(</a:t>
            </a:r>
            <a:r>
              <a:rPr lang="es-CO" sz="1200" dirty="0" err="1"/>
              <a:t>article</a:t>
            </a:r>
            <a:r>
              <a:rPr lang="es-CO" sz="1200" dirty="0"/>
              <a:t>){</a:t>
            </a:r>
          </a:p>
          <a:p>
            <a:r>
              <a:rPr lang="es-CO" sz="1200" dirty="0"/>
              <a:t>    </a:t>
            </a:r>
            <a:r>
              <a:rPr lang="es-CO" sz="1200" dirty="0" err="1"/>
              <a:t>return</a:t>
            </a:r>
            <a:r>
              <a:rPr lang="es-CO" sz="1200" dirty="0"/>
              <a:t> new </a:t>
            </a:r>
            <a:r>
              <a:rPr lang="es-CO" sz="1200" dirty="0" err="1"/>
              <a:t>Promise</a:t>
            </a:r>
            <a:r>
              <a:rPr lang="es-CO" sz="1200" dirty="0"/>
              <a:t>((</a:t>
            </a:r>
            <a:r>
              <a:rPr lang="es-CO" sz="1200" dirty="0" err="1"/>
              <a:t>resolve,reject</a:t>
            </a:r>
            <a:r>
              <a:rPr lang="es-CO" sz="1200" dirty="0"/>
              <a:t>)=&gt;{</a:t>
            </a:r>
          </a:p>
          <a:p>
            <a:r>
              <a:rPr lang="es-CO" sz="1200" dirty="0"/>
              <a:t>       </a:t>
            </a:r>
            <a:r>
              <a:rPr lang="es-CO" sz="1200" dirty="0" err="1"/>
              <a:t>articles.push</a:t>
            </a:r>
            <a:r>
              <a:rPr lang="es-CO" sz="1200" dirty="0"/>
              <a:t>(</a:t>
            </a:r>
            <a:r>
              <a:rPr lang="es-CO" sz="1200" dirty="0" err="1"/>
              <a:t>article</a:t>
            </a:r>
            <a:r>
              <a:rPr lang="es-CO" sz="1200" dirty="0"/>
              <a:t>);</a:t>
            </a:r>
          </a:p>
          <a:p>
            <a:r>
              <a:rPr lang="es-CO" sz="1200" dirty="0"/>
              <a:t>       </a:t>
            </a:r>
            <a:r>
              <a:rPr lang="es-CO" sz="1200" dirty="0" err="1"/>
              <a:t>let</a:t>
            </a:r>
            <a:r>
              <a:rPr lang="es-CO" sz="1200" dirty="0"/>
              <a:t> </a:t>
            </a:r>
            <a:r>
              <a:rPr lang="es-CO" sz="1200" dirty="0" err="1"/>
              <a:t>isError</a:t>
            </a:r>
            <a:r>
              <a:rPr lang="es-CO" sz="1200" dirty="0"/>
              <a:t>=true;</a:t>
            </a:r>
          </a:p>
          <a:p>
            <a:r>
              <a:rPr lang="es-CO" sz="1200" dirty="0"/>
              <a:t>       </a:t>
            </a:r>
            <a:r>
              <a:rPr lang="es-CO" sz="1200" dirty="0" err="1"/>
              <a:t>if</a:t>
            </a:r>
            <a:r>
              <a:rPr lang="es-CO" sz="1200" dirty="0"/>
              <a:t>(!</a:t>
            </a:r>
            <a:r>
              <a:rPr lang="es-CO" sz="1200" dirty="0" err="1"/>
              <a:t>isError</a:t>
            </a:r>
            <a:r>
              <a:rPr lang="es-CO" sz="1200" dirty="0"/>
              <a:t>){</a:t>
            </a:r>
          </a:p>
          <a:p>
            <a:r>
              <a:rPr lang="es-CO" sz="1200" dirty="0"/>
              <a:t>          </a:t>
            </a:r>
            <a:r>
              <a:rPr lang="es-CO" sz="1200" dirty="0" err="1"/>
              <a:t>resolve</a:t>
            </a:r>
            <a:r>
              <a:rPr lang="es-CO" sz="1200" dirty="0"/>
              <a:t>('Promesa exitosa');</a:t>
            </a:r>
          </a:p>
          <a:p>
            <a:r>
              <a:rPr lang="es-CO" sz="1200" dirty="0"/>
              <a:t>       } </a:t>
            </a:r>
            <a:r>
              <a:rPr lang="es-CO" sz="1200" dirty="0" err="1"/>
              <a:t>else</a:t>
            </a:r>
            <a:r>
              <a:rPr lang="es-CO" sz="1200" dirty="0"/>
              <a:t> {</a:t>
            </a:r>
          </a:p>
          <a:p>
            <a:r>
              <a:rPr lang="es-CO" sz="1200" dirty="0"/>
              <a:t>          </a:t>
            </a:r>
            <a:r>
              <a:rPr lang="es-CO" sz="1200" dirty="0" err="1"/>
              <a:t>reject</a:t>
            </a:r>
            <a:r>
              <a:rPr lang="es-CO" sz="1200" dirty="0"/>
              <a:t>('Hubo un error, no se </a:t>
            </a:r>
            <a:r>
              <a:rPr lang="es-CO" sz="1200" dirty="0" err="1"/>
              <a:t>cumplio</a:t>
            </a:r>
            <a:r>
              <a:rPr lang="es-CO" sz="1200" dirty="0"/>
              <a:t> la promesa');</a:t>
            </a:r>
          </a:p>
          <a:p>
            <a:r>
              <a:rPr lang="es-CO" sz="1200" dirty="0"/>
              <a:t>       }</a:t>
            </a:r>
          </a:p>
          <a:p>
            <a:r>
              <a:rPr lang="es-CO" sz="1200" dirty="0"/>
              <a:t>    });</a:t>
            </a:r>
          </a:p>
          <a:p>
            <a:r>
              <a:rPr lang="es-CO" sz="1200" dirty="0"/>
              <a:t> }</a:t>
            </a:r>
          </a:p>
          <a:p>
            <a:r>
              <a:rPr lang="es-CO" sz="1200" dirty="0"/>
              <a:t> </a:t>
            </a:r>
            <a:r>
              <a:rPr lang="es-CO" sz="1200" dirty="0" err="1"/>
              <a:t>createArticle</a:t>
            </a:r>
            <a:r>
              <a:rPr lang="es-CO" sz="1200" dirty="0"/>
              <a:t>({</a:t>
            </a:r>
            <a:r>
              <a:rPr lang="es-CO" sz="1200" dirty="0" err="1"/>
              <a:t>title</a:t>
            </a:r>
            <a:r>
              <a:rPr lang="es-CO" sz="1200" dirty="0"/>
              <a:t>:'</a:t>
            </a:r>
            <a:r>
              <a:rPr lang="es-CO" sz="1200" dirty="0" err="1"/>
              <a:t>Third</a:t>
            </a:r>
            <a:r>
              <a:rPr lang="es-CO" sz="1200" dirty="0"/>
              <a:t> </a:t>
            </a:r>
            <a:r>
              <a:rPr lang="es-CO" sz="1200" dirty="0" err="1"/>
              <a:t>article</a:t>
            </a:r>
            <a:r>
              <a:rPr lang="es-CO" sz="1200" dirty="0"/>
              <a:t>'})</a:t>
            </a:r>
          </a:p>
          <a:p>
            <a:r>
              <a:rPr lang="es-CO" sz="1200" dirty="0"/>
              <a:t> .</a:t>
            </a:r>
            <a:r>
              <a:rPr lang="es-CO" sz="1200" dirty="0" err="1"/>
              <a:t>then</a:t>
            </a:r>
            <a:r>
              <a:rPr lang="es-CO" sz="1200" dirty="0"/>
              <a:t>(</a:t>
            </a:r>
            <a:r>
              <a:rPr lang="es-CO" sz="1200" dirty="0" err="1"/>
              <a:t>getArticles</a:t>
            </a:r>
            <a:r>
              <a:rPr lang="es-CO" sz="1200" dirty="0"/>
              <a:t>());</a:t>
            </a:r>
          </a:p>
          <a:p>
            <a:endParaRPr lang="es-CO" sz="1400" dirty="0"/>
          </a:p>
        </p:txBody>
      </p:sp>
      <p:pic>
        <p:nvPicPr>
          <p:cNvPr id="5" name="Imagen 4"/>
          <p:cNvPicPr>
            <a:picLocks noChangeAspect="1"/>
          </p:cNvPicPr>
          <p:nvPr/>
        </p:nvPicPr>
        <p:blipFill>
          <a:blip r:embed="rId3"/>
          <a:stretch>
            <a:fillRect/>
          </a:stretch>
        </p:blipFill>
        <p:spPr>
          <a:xfrm>
            <a:off x="3413760" y="1872853"/>
            <a:ext cx="8641080" cy="1371481"/>
          </a:xfrm>
          <a:prstGeom prst="rect">
            <a:avLst/>
          </a:prstGeom>
        </p:spPr>
      </p:pic>
      <p:pic>
        <p:nvPicPr>
          <p:cNvPr id="6" name="Imagen 5"/>
          <p:cNvPicPr>
            <a:picLocks noChangeAspect="1"/>
          </p:cNvPicPr>
          <p:nvPr/>
        </p:nvPicPr>
        <p:blipFill>
          <a:blip r:embed="rId4"/>
          <a:stretch>
            <a:fillRect/>
          </a:stretch>
        </p:blipFill>
        <p:spPr>
          <a:xfrm>
            <a:off x="4412933" y="4366249"/>
            <a:ext cx="7337108" cy="1504950"/>
          </a:xfrm>
          <a:prstGeom prst="rect">
            <a:avLst/>
          </a:prstGeom>
        </p:spPr>
      </p:pic>
    </p:spTree>
    <p:extLst>
      <p:ext uri="{BB962C8B-B14F-4D97-AF65-F5344CB8AC3E}">
        <p14:creationId xmlns:p14="http://schemas.microsoft.com/office/powerpoint/2010/main" val="2142738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Async/Await</a:t>
            </a:r>
            <a:endParaRPr spc="-42" dirty="0">
              <a:solidFill>
                <a:srgbClr val="FFF5EA"/>
              </a:solidFill>
              <a:latin typeface="Georgia"/>
              <a:cs typeface="Georgia"/>
            </a:endParaRPr>
          </a:p>
        </p:txBody>
      </p:sp>
      <p:sp>
        <p:nvSpPr>
          <p:cNvPr id="3" name="Rectángulo 2"/>
          <p:cNvSpPr/>
          <p:nvPr/>
        </p:nvSpPr>
        <p:spPr>
          <a:xfrm>
            <a:off x="563880" y="1951672"/>
            <a:ext cx="6096000" cy="1477328"/>
          </a:xfrm>
          <a:prstGeom prst="rect">
            <a:avLst/>
          </a:prstGeom>
        </p:spPr>
        <p:txBody>
          <a:bodyPr>
            <a:spAutoFit/>
          </a:bodyPr>
          <a:lstStyle/>
          <a:p>
            <a:r>
              <a:rPr lang="es-ES" dirty="0"/>
              <a:t>Se supone que esta es la mejor manera de escribir promesas y nos ayuda a mantener nuestro código simple y limpio.</a:t>
            </a:r>
          </a:p>
          <a:p>
            <a:endParaRPr lang="es-ES" dirty="0"/>
          </a:p>
          <a:p>
            <a:r>
              <a:rPr lang="es-ES" dirty="0"/>
              <a:t>Todo lo que tienes que hacer es escribir la palabra </a:t>
            </a:r>
            <a:r>
              <a:rPr lang="es-ES" dirty="0" err="1"/>
              <a:t>async</a:t>
            </a:r>
            <a:r>
              <a:rPr lang="es-ES" dirty="0"/>
              <a:t> antes de cualquier función regular y se convierte en una promesa.</a:t>
            </a:r>
            <a:endParaRPr lang="es-CO" dirty="0"/>
          </a:p>
        </p:txBody>
      </p:sp>
      <p:pic>
        <p:nvPicPr>
          <p:cNvPr id="7" name="Imagen 6"/>
          <p:cNvPicPr>
            <a:picLocks noChangeAspect="1"/>
          </p:cNvPicPr>
          <p:nvPr/>
        </p:nvPicPr>
        <p:blipFill>
          <a:blip r:embed="rId3"/>
          <a:stretch>
            <a:fillRect/>
          </a:stretch>
        </p:blipFill>
        <p:spPr>
          <a:xfrm>
            <a:off x="362089" y="3613666"/>
            <a:ext cx="6499581" cy="3058626"/>
          </a:xfrm>
          <a:prstGeom prst="rect">
            <a:avLst/>
          </a:prstGeom>
        </p:spPr>
      </p:pic>
    </p:spTree>
    <p:extLst>
      <p:ext uri="{BB962C8B-B14F-4D97-AF65-F5344CB8AC3E}">
        <p14:creationId xmlns:p14="http://schemas.microsoft.com/office/powerpoint/2010/main" val="4034570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977217" y="3244334"/>
            <a:ext cx="237566" cy="369332"/>
          </a:xfrm>
          <a:prstGeom prst="rect">
            <a:avLst/>
          </a:prstGeom>
        </p:spPr>
        <p:txBody>
          <a:bodyPr wrap="none">
            <a:spAutoFit/>
          </a:bodyPr>
          <a:lstStyle/>
          <a:p>
            <a:r>
              <a:rPr lang="es-CO" dirty="0"/>
              <a:t> </a:t>
            </a:r>
          </a:p>
        </p:txBody>
      </p:sp>
      <p:sp>
        <p:nvSpPr>
          <p:cNvPr id="8" name="object 2"/>
          <p:cNvSpPr txBox="1">
            <a:spLocks noGrp="1"/>
          </p:cNvSpPr>
          <p:nvPr>
            <p:ph type="title"/>
          </p:nvPr>
        </p:nvSpPr>
        <p:spPr>
          <a:xfrm>
            <a:off x="455613" y="429362"/>
            <a:ext cx="10515600" cy="689089"/>
          </a:xfrm>
          <a:prstGeom prst="rect">
            <a:avLst/>
          </a:prstGeom>
        </p:spPr>
        <p:txBody>
          <a:bodyPr vert="horz" wrap="square" lIns="0" tIns="11865" rIns="0" bIns="0" rtlCol="0">
            <a:spAutoFit/>
          </a:bodyPr>
          <a:lstStyle/>
          <a:p>
            <a:pPr marL="11866">
              <a:lnSpc>
                <a:spcPct val="100000"/>
              </a:lnSpc>
              <a:spcBef>
                <a:spcPts val="93"/>
              </a:spcBef>
            </a:pPr>
            <a:r>
              <a:rPr lang="en-001" spc="-42" dirty="0" smtClean="0">
                <a:solidFill>
                  <a:srgbClr val="FFF5EA"/>
                </a:solidFill>
                <a:latin typeface="Georgia"/>
                <a:cs typeface="Georgia"/>
              </a:rPr>
              <a:t>Async/Await: Ejemplo</a:t>
            </a:r>
            <a:endParaRPr spc="-42" dirty="0">
              <a:solidFill>
                <a:srgbClr val="FFF5EA"/>
              </a:solidFill>
              <a:latin typeface="Georgia"/>
              <a:cs typeface="Georgia"/>
            </a:endParaRPr>
          </a:p>
        </p:txBody>
      </p:sp>
      <p:sp>
        <p:nvSpPr>
          <p:cNvPr id="2" name="Rectángulo 1"/>
          <p:cNvSpPr/>
          <p:nvPr/>
        </p:nvSpPr>
        <p:spPr>
          <a:xfrm>
            <a:off x="655320" y="1630680"/>
            <a:ext cx="4739640" cy="4678204"/>
          </a:xfrm>
          <a:prstGeom prst="rect">
            <a:avLst/>
          </a:prstGeom>
        </p:spPr>
        <p:txBody>
          <a:bodyPr wrap="square">
            <a:spAutoFit/>
          </a:bodyPr>
          <a:lstStyle/>
          <a:p>
            <a:r>
              <a:rPr lang="es-CO" sz="1400" dirty="0"/>
              <a:t> </a:t>
            </a:r>
            <a:r>
              <a:rPr lang="es-CO" sz="1400" dirty="0" err="1"/>
              <a:t>const</a:t>
            </a:r>
            <a:r>
              <a:rPr lang="es-CO" sz="1400" dirty="0"/>
              <a:t> </a:t>
            </a:r>
            <a:r>
              <a:rPr lang="es-CO" sz="1400" dirty="0" err="1"/>
              <a:t>articles</a:t>
            </a:r>
            <a:r>
              <a:rPr lang="es-CO" sz="1400" dirty="0"/>
              <a:t> = [</a:t>
            </a:r>
          </a:p>
          <a:p>
            <a:r>
              <a:rPr lang="es-CO" sz="1400" dirty="0"/>
              <a:t>      {</a:t>
            </a:r>
            <a:r>
              <a:rPr lang="es-CO" sz="1400" dirty="0" err="1"/>
              <a:t>title</a:t>
            </a:r>
            <a:r>
              <a:rPr lang="es-CO" sz="1400" dirty="0"/>
              <a:t>:'</a:t>
            </a:r>
            <a:r>
              <a:rPr lang="es-CO" sz="1400" dirty="0" err="1"/>
              <a:t>First</a:t>
            </a:r>
            <a:r>
              <a:rPr lang="es-CO" sz="1400" dirty="0"/>
              <a:t> </a:t>
            </a:r>
            <a:r>
              <a:rPr lang="es-CO" sz="1400" dirty="0" err="1"/>
              <a:t>article</a:t>
            </a:r>
            <a:r>
              <a:rPr lang="es-CO" sz="1400" dirty="0"/>
              <a:t>'},</a:t>
            </a:r>
          </a:p>
          <a:p>
            <a:r>
              <a:rPr lang="es-CO" sz="1400" dirty="0"/>
              <a:t>      {</a:t>
            </a:r>
            <a:r>
              <a:rPr lang="es-CO" sz="1400" dirty="0" err="1"/>
              <a:t>title</a:t>
            </a:r>
            <a:r>
              <a:rPr lang="es-CO" sz="1400" dirty="0"/>
              <a:t>:'</a:t>
            </a:r>
            <a:r>
              <a:rPr lang="es-CO" sz="1400" dirty="0" err="1"/>
              <a:t>Second</a:t>
            </a:r>
            <a:r>
              <a:rPr lang="es-CO" sz="1400" dirty="0"/>
              <a:t> </a:t>
            </a:r>
            <a:r>
              <a:rPr lang="es-CO" sz="1400" dirty="0" err="1"/>
              <a:t>article</a:t>
            </a:r>
            <a:r>
              <a:rPr lang="es-CO" sz="1400" dirty="0"/>
              <a:t>'}</a:t>
            </a:r>
          </a:p>
          <a:p>
            <a:r>
              <a:rPr lang="es-CO" sz="1400" dirty="0"/>
              <a:t>   ];</a:t>
            </a:r>
          </a:p>
          <a:p>
            <a:r>
              <a:rPr lang="es-CO" sz="1400" dirty="0"/>
              <a:t>   </a:t>
            </a:r>
            <a:r>
              <a:rPr lang="es-CO" sz="1400" dirty="0" err="1"/>
              <a:t>function</a:t>
            </a:r>
            <a:r>
              <a:rPr lang="es-CO" sz="1400" dirty="0"/>
              <a:t> </a:t>
            </a:r>
            <a:r>
              <a:rPr lang="es-CO" sz="1400" dirty="0" err="1"/>
              <a:t>getArticles</a:t>
            </a:r>
            <a:r>
              <a:rPr lang="es-CO" sz="1400" dirty="0"/>
              <a:t>(){</a:t>
            </a:r>
          </a:p>
          <a:p>
            <a:r>
              <a:rPr lang="es-CO" sz="1400" dirty="0"/>
              <a:t>      </a:t>
            </a:r>
            <a:r>
              <a:rPr lang="es-CO" sz="1400" dirty="0" err="1"/>
              <a:t>setTimeout</a:t>
            </a:r>
            <a:r>
              <a:rPr lang="es-CO" sz="1400" dirty="0"/>
              <a:t>(()=&gt;{</a:t>
            </a:r>
          </a:p>
          <a:p>
            <a:r>
              <a:rPr lang="es-CO" sz="1400" dirty="0"/>
              <a:t>         </a:t>
            </a:r>
            <a:r>
              <a:rPr lang="es-CO" sz="1400" dirty="0" err="1"/>
              <a:t>let</a:t>
            </a:r>
            <a:r>
              <a:rPr lang="es-CO" sz="1400" dirty="0"/>
              <a:t> </a:t>
            </a:r>
            <a:r>
              <a:rPr lang="es-CO" sz="1400" dirty="0" err="1"/>
              <a:t>articleContent</a:t>
            </a:r>
            <a:r>
              <a:rPr lang="es-CO" sz="1400" dirty="0"/>
              <a:t>='';</a:t>
            </a:r>
          </a:p>
          <a:p>
            <a:r>
              <a:rPr lang="es-CO" sz="1400" dirty="0"/>
              <a:t>         </a:t>
            </a:r>
            <a:r>
              <a:rPr lang="es-CO" sz="1400" dirty="0" err="1"/>
              <a:t>articles.forEach</a:t>
            </a:r>
            <a:r>
              <a:rPr lang="es-CO" sz="1400" dirty="0"/>
              <a:t>((</a:t>
            </a:r>
            <a:r>
              <a:rPr lang="es-CO" sz="1400" dirty="0" err="1"/>
              <a:t>article,index</a:t>
            </a:r>
            <a:r>
              <a:rPr lang="es-CO" sz="1400" dirty="0"/>
              <a:t>)=&gt;{</a:t>
            </a:r>
          </a:p>
          <a:p>
            <a:r>
              <a:rPr lang="es-CO" sz="1400" dirty="0"/>
              <a:t>            </a:t>
            </a:r>
            <a:r>
              <a:rPr lang="es-CO" sz="1400" dirty="0" err="1"/>
              <a:t>articleContent</a:t>
            </a:r>
            <a:r>
              <a:rPr lang="es-CO" sz="1400" dirty="0"/>
              <a:t>+=`${</a:t>
            </a:r>
            <a:r>
              <a:rPr lang="es-CO" sz="1400" dirty="0" err="1"/>
              <a:t>article.title</a:t>
            </a:r>
            <a:r>
              <a:rPr lang="es-CO" sz="1400" dirty="0"/>
              <a:t>}`+` `;</a:t>
            </a:r>
          </a:p>
          <a:p>
            <a:r>
              <a:rPr lang="es-CO" sz="1400" dirty="0"/>
              <a:t>         });</a:t>
            </a:r>
          </a:p>
          <a:p>
            <a:r>
              <a:rPr lang="es-CO" sz="1400" dirty="0"/>
              <a:t>         console.log(</a:t>
            </a:r>
            <a:r>
              <a:rPr lang="es-CO" sz="1400" dirty="0" err="1"/>
              <a:t>articleContent</a:t>
            </a:r>
            <a:r>
              <a:rPr lang="es-CO" sz="1400" dirty="0"/>
              <a:t>);</a:t>
            </a:r>
          </a:p>
          <a:p>
            <a:r>
              <a:rPr lang="es-CO" sz="1400" dirty="0"/>
              <a:t>      },1000);</a:t>
            </a:r>
          </a:p>
          <a:p>
            <a:r>
              <a:rPr lang="es-CO" sz="1400" dirty="0"/>
              <a:t>   }</a:t>
            </a:r>
          </a:p>
          <a:p>
            <a:r>
              <a:rPr lang="es-CO" sz="1400" dirty="0"/>
              <a:t>   </a:t>
            </a:r>
            <a:r>
              <a:rPr lang="es-CO" sz="1400" dirty="0" err="1"/>
              <a:t>function</a:t>
            </a:r>
            <a:r>
              <a:rPr lang="es-CO" sz="1400" dirty="0"/>
              <a:t> </a:t>
            </a:r>
            <a:r>
              <a:rPr lang="es-CO" sz="1400" dirty="0" err="1"/>
              <a:t>createArticle</a:t>
            </a:r>
            <a:r>
              <a:rPr lang="es-CO" sz="1400" dirty="0"/>
              <a:t>(</a:t>
            </a:r>
            <a:r>
              <a:rPr lang="es-CO" sz="1400" dirty="0" err="1"/>
              <a:t>article</a:t>
            </a:r>
            <a:r>
              <a:rPr lang="es-CO" sz="1400" dirty="0"/>
              <a:t>){</a:t>
            </a:r>
          </a:p>
          <a:p>
            <a:r>
              <a:rPr lang="es-CO" sz="1400" dirty="0"/>
              <a:t>      </a:t>
            </a:r>
            <a:r>
              <a:rPr lang="es-CO" sz="1400" dirty="0" err="1"/>
              <a:t>articles.push</a:t>
            </a:r>
            <a:r>
              <a:rPr lang="es-CO" sz="1400" dirty="0"/>
              <a:t>(</a:t>
            </a:r>
            <a:r>
              <a:rPr lang="es-CO" sz="1400" dirty="0" err="1"/>
              <a:t>article</a:t>
            </a:r>
            <a:r>
              <a:rPr lang="es-CO" sz="1400" dirty="0"/>
              <a:t>);</a:t>
            </a:r>
          </a:p>
          <a:p>
            <a:r>
              <a:rPr lang="es-CO" sz="1400" dirty="0"/>
              <a:t>   }</a:t>
            </a:r>
          </a:p>
          <a:p>
            <a:r>
              <a:rPr lang="es-CO" sz="1400" dirty="0"/>
              <a:t>   </a:t>
            </a:r>
            <a:r>
              <a:rPr lang="es-CO" sz="1400" dirty="0" err="1"/>
              <a:t>async</a:t>
            </a:r>
            <a:r>
              <a:rPr lang="es-CO" sz="1400" dirty="0"/>
              <a:t> </a:t>
            </a:r>
            <a:r>
              <a:rPr lang="es-CO" sz="1400" dirty="0" err="1"/>
              <a:t>function</a:t>
            </a:r>
            <a:r>
              <a:rPr lang="es-CO" sz="1400" dirty="0"/>
              <a:t> </a:t>
            </a:r>
            <a:r>
              <a:rPr lang="es-CO" sz="1400" dirty="0" err="1"/>
              <a:t>testAsync</a:t>
            </a:r>
            <a:r>
              <a:rPr lang="es-CO" sz="1400" dirty="0"/>
              <a:t>(){</a:t>
            </a:r>
          </a:p>
          <a:p>
            <a:r>
              <a:rPr lang="es-CO" sz="1400" dirty="0"/>
              <a:t>      </a:t>
            </a:r>
            <a:r>
              <a:rPr lang="es-CO" sz="1400" dirty="0" err="1"/>
              <a:t>await</a:t>
            </a:r>
            <a:r>
              <a:rPr lang="es-CO" sz="1400" dirty="0"/>
              <a:t> </a:t>
            </a:r>
            <a:r>
              <a:rPr lang="es-CO" sz="1400" dirty="0" err="1"/>
              <a:t>createArticle</a:t>
            </a:r>
            <a:r>
              <a:rPr lang="es-CO" sz="1400" dirty="0"/>
              <a:t>({</a:t>
            </a:r>
            <a:r>
              <a:rPr lang="es-CO" sz="1400" dirty="0" err="1"/>
              <a:t>title</a:t>
            </a:r>
            <a:r>
              <a:rPr lang="es-CO" sz="1400" dirty="0"/>
              <a:t>:'</a:t>
            </a:r>
            <a:r>
              <a:rPr lang="es-CO" sz="1400" dirty="0" err="1"/>
              <a:t>Third</a:t>
            </a:r>
            <a:r>
              <a:rPr lang="es-CO" sz="1400" dirty="0"/>
              <a:t> </a:t>
            </a:r>
            <a:r>
              <a:rPr lang="es-CO" sz="1400" dirty="0" err="1"/>
              <a:t>article</a:t>
            </a:r>
            <a:r>
              <a:rPr lang="es-CO" sz="1400" dirty="0"/>
              <a:t>'});</a:t>
            </a:r>
          </a:p>
          <a:p>
            <a:r>
              <a:rPr lang="es-CO" sz="1400" dirty="0"/>
              <a:t>      </a:t>
            </a:r>
            <a:r>
              <a:rPr lang="es-CO" sz="1400" dirty="0" err="1"/>
              <a:t>getArticles</a:t>
            </a:r>
            <a:r>
              <a:rPr lang="es-CO" sz="1400" dirty="0"/>
              <a:t>();</a:t>
            </a:r>
          </a:p>
          <a:p>
            <a:r>
              <a:rPr lang="es-CO" sz="1400" dirty="0"/>
              <a:t>   }</a:t>
            </a:r>
          </a:p>
          <a:p>
            <a:r>
              <a:rPr lang="es-CO" dirty="0"/>
              <a:t>   </a:t>
            </a:r>
            <a:r>
              <a:rPr lang="es-CO" dirty="0" err="1"/>
              <a:t>testAsync</a:t>
            </a:r>
            <a:r>
              <a:rPr lang="es-CO" dirty="0"/>
              <a:t>();</a:t>
            </a:r>
          </a:p>
        </p:txBody>
      </p:sp>
      <p:sp>
        <p:nvSpPr>
          <p:cNvPr id="5" name="Rectángulo 4"/>
          <p:cNvSpPr/>
          <p:nvPr/>
        </p:nvSpPr>
        <p:spPr>
          <a:xfrm>
            <a:off x="4587240" y="2216557"/>
            <a:ext cx="6096000" cy="1754326"/>
          </a:xfrm>
          <a:prstGeom prst="rect">
            <a:avLst/>
          </a:prstGeom>
        </p:spPr>
        <p:txBody>
          <a:bodyPr>
            <a:spAutoFit/>
          </a:bodyPr>
          <a:lstStyle/>
          <a:p>
            <a:r>
              <a:rPr lang="es-ES" dirty="0"/>
              <a:t>La función </a:t>
            </a:r>
            <a:r>
              <a:rPr lang="es-ES" dirty="0" err="1"/>
              <a:t>testAsync</a:t>
            </a:r>
            <a:r>
              <a:rPr lang="es-ES" dirty="0"/>
              <a:t> está marcada como asíncrona y usamos </a:t>
            </a:r>
            <a:r>
              <a:rPr lang="es-ES" dirty="0" err="1"/>
              <a:t>await</a:t>
            </a:r>
            <a:r>
              <a:rPr lang="es-ES" dirty="0"/>
              <a:t> para que la función </a:t>
            </a:r>
            <a:r>
              <a:rPr lang="es-ES" dirty="0" err="1"/>
              <a:t>createArticle</a:t>
            </a:r>
            <a:r>
              <a:rPr lang="es-ES" dirty="0"/>
              <a:t> la completara primero. Luego llamamos a </a:t>
            </a:r>
            <a:r>
              <a:rPr lang="es-ES" dirty="0" err="1"/>
              <a:t>getArticles</a:t>
            </a:r>
            <a:r>
              <a:rPr lang="es-ES" dirty="0"/>
              <a:t>().</a:t>
            </a:r>
          </a:p>
          <a:p>
            <a:endParaRPr lang="es-ES" dirty="0"/>
          </a:p>
          <a:p>
            <a:r>
              <a:rPr lang="es-ES" dirty="0"/>
              <a:t>El uso de </a:t>
            </a:r>
            <a:r>
              <a:rPr lang="es-ES" dirty="0" err="1"/>
              <a:t>async</a:t>
            </a:r>
            <a:r>
              <a:rPr lang="es-ES" dirty="0"/>
              <a:t> / </a:t>
            </a:r>
            <a:r>
              <a:rPr lang="es-ES" dirty="0" err="1"/>
              <a:t>await</a:t>
            </a:r>
            <a:r>
              <a:rPr lang="es-ES" dirty="0"/>
              <a:t> es la mejor versión de las promesas y hace que el código sea más limpio</a:t>
            </a:r>
            <a:endParaRPr lang="es-CO" dirty="0"/>
          </a:p>
        </p:txBody>
      </p:sp>
    </p:spTree>
    <p:extLst>
      <p:ext uri="{BB962C8B-B14F-4D97-AF65-F5344CB8AC3E}">
        <p14:creationId xmlns:p14="http://schemas.microsoft.com/office/powerpoint/2010/main" val="1031861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7188</TotalTime>
  <Words>1122</Words>
  <Application>Microsoft Office PowerPoint</Application>
  <PresentationFormat>Panorámica</PresentationFormat>
  <Paragraphs>217</Paragraphs>
  <Slides>16</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Georgia</vt:lpstr>
      <vt:lpstr>Work Sans</vt:lpstr>
      <vt:lpstr>Tema de Office</vt:lpstr>
      <vt:lpstr>Presentación de PowerPoint</vt:lpstr>
      <vt:lpstr>¿Qué es un sístema síncrono?(Sync)</vt:lpstr>
      <vt:lpstr>¿Qué es un sístema asíncrono?(Async)</vt:lpstr>
      <vt:lpstr>Descargar code runner</vt:lpstr>
      <vt:lpstr>Ejemplo con Sync</vt:lpstr>
      <vt:lpstr>Ejemplo con Async</vt:lpstr>
      <vt:lpstr>Callback</vt:lpstr>
      <vt:lpstr>Callback: Ejemplo paso 1 </vt:lpstr>
      <vt:lpstr>Callback: Ejemplo paso 2 </vt:lpstr>
      <vt:lpstr>Callback: Ejemplo paso 3 </vt:lpstr>
      <vt:lpstr>Promesas</vt:lpstr>
      <vt:lpstr>Promesas</vt:lpstr>
      <vt:lpstr>Promesas</vt:lpstr>
      <vt:lpstr>Async/Await</vt:lpstr>
      <vt:lpstr>Async/Await: Ejemplo</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SENA</cp:lastModifiedBy>
  <cp:revision>130</cp:revision>
  <dcterms:created xsi:type="dcterms:W3CDTF">2020-10-01T23:51:28Z</dcterms:created>
  <dcterms:modified xsi:type="dcterms:W3CDTF">2023-10-16T02:36:20Z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